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6426200" cy="5905500"/>
  <p:notesSz cx="6858000" cy="9144000"/>
  <p:embeddedFontLst>
    <p:embeddedFont>
      <p:font typeface="Montserrat Bold" charset="1" panose="00000800000000000000"/>
      <p:regular r:id="rId16"/>
    </p:embeddedFont>
    <p:embeddedFont>
      <p:font typeface="Montserrat" charset="1" panose="00000500000000000000"/>
      <p:regular r:id="rId17"/>
    </p:embeddedFont>
    <p:embeddedFont>
      <p:font typeface="Montserrat Bold Italics" charset="1" panose="00000800000000000000"/>
      <p:regular r:id="rId18"/>
    </p:embeddedFont>
    <p:embeddedFont>
      <p:font typeface="Montserrat Italics" charset="1" panose="000005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91E27">
                <a:alpha val="100000"/>
              </a:srgbClr>
            </a:gs>
            <a:gs pos="100000">
              <a:srgbClr val="48F0E7">
                <a:alpha val="100000"/>
              </a:srgbClr>
            </a:gs>
          </a:gsLst>
          <a:lin ang="189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3253" y="64150"/>
            <a:ext cx="6342869" cy="738200"/>
            <a:chOff x="0" y="0"/>
            <a:chExt cx="2909990" cy="3386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09990" cy="338673"/>
            </a:xfrm>
            <a:custGeom>
              <a:avLst/>
              <a:gdLst/>
              <a:ahLst/>
              <a:cxnLst/>
              <a:rect r="r" b="b" t="t" l="l"/>
              <a:pathLst>
                <a:path h="338673" w="2909990">
                  <a:moveTo>
                    <a:pt x="0" y="0"/>
                  </a:moveTo>
                  <a:lnTo>
                    <a:pt x="2909990" y="0"/>
                  </a:lnTo>
                  <a:lnTo>
                    <a:pt x="2909990" y="338673"/>
                  </a:lnTo>
                  <a:lnTo>
                    <a:pt x="0" y="338673"/>
                  </a:lnTo>
                  <a:close/>
                </a:path>
              </a:pathLst>
            </a:custGeom>
            <a:solidFill>
              <a:srgbClr val="E3EBF2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09990" cy="357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43253" y="5001371"/>
            <a:ext cx="6342869" cy="849504"/>
            <a:chOff x="0" y="0"/>
            <a:chExt cx="2909990" cy="38973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909990" cy="389737"/>
            </a:xfrm>
            <a:custGeom>
              <a:avLst/>
              <a:gdLst/>
              <a:ahLst/>
              <a:cxnLst/>
              <a:rect r="r" b="b" t="t" l="l"/>
              <a:pathLst>
                <a:path h="389737" w="2909990">
                  <a:moveTo>
                    <a:pt x="0" y="0"/>
                  </a:moveTo>
                  <a:lnTo>
                    <a:pt x="2909990" y="0"/>
                  </a:lnTo>
                  <a:lnTo>
                    <a:pt x="2909990" y="389737"/>
                  </a:lnTo>
                  <a:lnTo>
                    <a:pt x="0" y="389737"/>
                  </a:lnTo>
                  <a:close/>
                </a:path>
              </a:pathLst>
            </a:custGeom>
            <a:solidFill>
              <a:srgbClr val="E3EBF2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909990" cy="4087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43253" y="849975"/>
            <a:ext cx="3146387" cy="2023310"/>
            <a:chOff x="0" y="0"/>
            <a:chExt cx="1443504" cy="92825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239735" y="849975"/>
            <a:ext cx="3146387" cy="2023310"/>
            <a:chOff x="0" y="0"/>
            <a:chExt cx="1443504" cy="92825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3253" y="2920911"/>
            <a:ext cx="3146387" cy="2023310"/>
            <a:chOff x="0" y="0"/>
            <a:chExt cx="1443504" cy="92825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239735" y="2920911"/>
            <a:ext cx="3146387" cy="2023310"/>
            <a:chOff x="0" y="0"/>
            <a:chExt cx="1443504" cy="92825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-464440">
            <a:off x="3108063" y="2700790"/>
            <a:ext cx="3409731" cy="2377568"/>
          </a:xfrm>
          <a:custGeom>
            <a:avLst/>
            <a:gdLst/>
            <a:ahLst/>
            <a:cxnLst/>
            <a:rect r="r" b="b" t="t" l="l"/>
            <a:pathLst>
              <a:path h="2377568" w="3409731">
                <a:moveTo>
                  <a:pt x="0" y="0"/>
                </a:moveTo>
                <a:lnTo>
                  <a:pt x="3409731" y="0"/>
                </a:lnTo>
                <a:lnTo>
                  <a:pt x="3409731" y="2377569"/>
                </a:lnTo>
                <a:lnTo>
                  <a:pt x="0" y="23775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736765" y="169979"/>
            <a:ext cx="2955846" cy="5646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4"/>
              </a:lnSpc>
            </a:pPr>
            <a:r>
              <a:rPr lang="en-US" b="true" sz="2200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CARD 01 - PROPANE</a:t>
            </a:r>
          </a:p>
          <a:p>
            <a:pPr algn="ctr">
              <a:lnSpc>
                <a:spcPts val="2244"/>
              </a:lnSpc>
            </a:pPr>
            <a:r>
              <a:rPr lang="en-US" b="true" sz="2200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C₃H₈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8514" y="942961"/>
            <a:ext cx="1827113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1. Molecular Formula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368900" y="942961"/>
            <a:ext cx="1575495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2. Lewis Structure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38514" y="3016161"/>
            <a:ext cx="2955864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3. Condensed Structural Formula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334997" y="3006636"/>
            <a:ext cx="1998141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4. Bond-Line Formula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017812" y="5196760"/>
            <a:ext cx="2393752" cy="229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34"/>
              </a:lnSpc>
            </a:pPr>
            <a:r>
              <a:rPr lang="en-US" sz="1700" b="true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VERIFICATION STRIP 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84224" y="1600527"/>
            <a:ext cx="1464446" cy="617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98"/>
              </a:lnSpc>
            </a:pPr>
            <a:r>
              <a:rPr lang="en-US" b="true" sz="4802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C₃H₈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26392" y="3686340"/>
            <a:ext cx="2780109" cy="494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6"/>
              </a:lnSpc>
            </a:pPr>
            <a:r>
              <a:rPr lang="en-US" sz="3702" b="true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CH₃</a:t>
            </a:r>
            <a:r>
              <a:rPr lang="en-US" b="true" sz="3702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CH₂CH₃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2996976" y="1260716"/>
            <a:ext cx="3782062" cy="1484297"/>
            <a:chOff x="0" y="0"/>
            <a:chExt cx="5042750" cy="1979062"/>
          </a:xfrm>
        </p:grpSpPr>
        <p:sp>
          <p:nvSpPr>
            <p:cNvPr name="TextBox 30" id="30"/>
            <p:cNvSpPr txBox="true"/>
            <p:nvPr/>
          </p:nvSpPr>
          <p:spPr>
            <a:xfrm rot="0">
              <a:off x="1326918" y="813290"/>
              <a:ext cx="2347606" cy="3615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sz="1964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— </a:t>
              </a:r>
              <a:r>
                <a:rPr lang="en-US" sz="1964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 </a:t>
              </a: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 </a:t>
              </a:r>
              <a:r>
                <a:rPr lang="en-US" sz="1964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1576313" y="28575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-5400000">
              <a:off x="1495950" y="396252"/>
              <a:ext cx="41665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0">
              <a:off x="2347606" y="28575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-5400000">
              <a:off x="2267242" y="396252"/>
              <a:ext cx="41665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3118899" y="28575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-5400000">
              <a:off x="3038536" y="396252"/>
              <a:ext cx="41665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-5400000">
              <a:off x="1535388" y="1201754"/>
              <a:ext cx="41665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-5400000">
              <a:off x="2306680" y="1201754"/>
              <a:ext cx="41665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9" id="39"/>
            <p:cNvSpPr txBox="true"/>
            <p:nvPr/>
          </p:nvSpPr>
          <p:spPr>
            <a:xfrm rot="-5400000">
              <a:off x="3077972" y="1201754"/>
              <a:ext cx="41665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0" id="40"/>
            <p:cNvSpPr txBox="true"/>
            <p:nvPr/>
          </p:nvSpPr>
          <p:spPr>
            <a:xfrm rot="0">
              <a:off x="1615485" y="1618793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1" id="41"/>
            <p:cNvSpPr txBox="true"/>
            <p:nvPr/>
          </p:nvSpPr>
          <p:spPr>
            <a:xfrm rot="0">
              <a:off x="2386778" y="1618793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2" id="42"/>
            <p:cNvSpPr txBox="true"/>
            <p:nvPr/>
          </p:nvSpPr>
          <p:spPr>
            <a:xfrm rot="0">
              <a:off x="3158071" y="1618793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3" id="43"/>
            <p:cNvSpPr txBox="true"/>
            <p:nvPr/>
          </p:nvSpPr>
          <p:spPr>
            <a:xfrm rot="0">
              <a:off x="2695144" y="813290"/>
              <a:ext cx="2347606" cy="3615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 </a:t>
              </a:r>
              <a:r>
                <a:rPr lang="en-US" sz="1964" b="true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0">
              <a:off x="0" y="813290"/>
              <a:ext cx="2347606" cy="3615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sz="1964" b="true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  <a:r>
                <a:rPr lang="en-US" sz="1964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</a:t>
              </a: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 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99379" y="5492798"/>
            <a:ext cx="6433135" cy="157330"/>
            <a:chOff x="0" y="0"/>
            <a:chExt cx="8577514" cy="209773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 rot="0">
              <a:off x="54749" y="37792"/>
              <a:ext cx="1804732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atom count verified</a:t>
              </a:r>
            </a:p>
          </p:txBody>
        </p:sp>
        <p:sp>
          <p:nvSpPr>
            <p:cNvPr name="TextBox 48" id="48"/>
            <p:cNvSpPr txBox="true"/>
            <p:nvPr/>
          </p:nvSpPr>
          <p:spPr>
            <a:xfrm rot="0">
              <a:off x="2138716" y="37792"/>
              <a:ext cx="1522716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valence checked</a:t>
              </a:r>
            </a:p>
          </p:txBody>
        </p:sp>
        <p:sp>
          <p:nvSpPr>
            <p:cNvPr name="Freeform 49" id="49"/>
            <p:cNvSpPr/>
            <p:nvPr/>
          </p:nvSpPr>
          <p:spPr>
            <a:xfrm flipH="false" flipV="false" rot="0">
              <a:off x="2028309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 rot="0">
              <a:off x="3882330" y="37792"/>
              <a:ext cx="1850357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bond order checked</a:t>
              </a:r>
            </a:p>
          </p:txBody>
        </p:sp>
        <p:sp>
          <p:nvSpPr>
            <p:cNvPr name="Freeform 51" id="51"/>
            <p:cNvSpPr/>
            <p:nvPr/>
          </p:nvSpPr>
          <p:spPr>
            <a:xfrm flipH="false" flipV="false" rot="0">
              <a:off x="3825680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 rot="0">
              <a:off x="5896935" y="37792"/>
              <a:ext cx="2680579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same connectivity confirmed</a:t>
              </a:r>
            </a:p>
          </p:txBody>
        </p:sp>
        <p:sp>
          <p:nvSpPr>
            <p:cNvPr name="Freeform 53" id="53"/>
            <p:cNvSpPr/>
            <p:nvPr/>
          </p:nvSpPr>
          <p:spPr>
            <a:xfrm flipH="false" flipV="false" rot="0">
              <a:off x="5896935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3" y="0"/>
                  </a:lnTo>
                  <a:lnTo>
                    <a:pt x="220813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91E27">
                <a:alpha val="100000"/>
              </a:srgbClr>
            </a:gs>
            <a:gs pos="100000">
              <a:srgbClr val="48F0E7">
                <a:alpha val="100000"/>
              </a:srgbClr>
            </a:gs>
          </a:gsLst>
          <a:lin ang="189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3253" y="64150"/>
            <a:ext cx="6342869" cy="738200"/>
            <a:chOff x="0" y="0"/>
            <a:chExt cx="2909990" cy="3386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09990" cy="338673"/>
            </a:xfrm>
            <a:custGeom>
              <a:avLst/>
              <a:gdLst/>
              <a:ahLst/>
              <a:cxnLst/>
              <a:rect r="r" b="b" t="t" l="l"/>
              <a:pathLst>
                <a:path h="338673" w="2909990">
                  <a:moveTo>
                    <a:pt x="0" y="0"/>
                  </a:moveTo>
                  <a:lnTo>
                    <a:pt x="2909990" y="0"/>
                  </a:lnTo>
                  <a:lnTo>
                    <a:pt x="2909990" y="338673"/>
                  </a:lnTo>
                  <a:lnTo>
                    <a:pt x="0" y="338673"/>
                  </a:lnTo>
                  <a:close/>
                </a:path>
              </a:pathLst>
            </a:custGeom>
            <a:solidFill>
              <a:srgbClr val="E3EBF2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09990" cy="357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43253" y="5001371"/>
            <a:ext cx="6342869" cy="849504"/>
            <a:chOff x="0" y="0"/>
            <a:chExt cx="2909990" cy="38973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909990" cy="389737"/>
            </a:xfrm>
            <a:custGeom>
              <a:avLst/>
              <a:gdLst/>
              <a:ahLst/>
              <a:cxnLst/>
              <a:rect r="r" b="b" t="t" l="l"/>
              <a:pathLst>
                <a:path h="389737" w="2909990">
                  <a:moveTo>
                    <a:pt x="0" y="0"/>
                  </a:moveTo>
                  <a:lnTo>
                    <a:pt x="2909990" y="0"/>
                  </a:lnTo>
                  <a:lnTo>
                    <a:pt x="2909990" y="389737"/>
                  </a:lnTo>
                  <a:lnTo>
                    <a:pt x="0" y="389737"/>
                  </a:lnTo>
                  <a:close/>
                </a:path>
              </a:pathLst>
            </a:custGeom>
            <a:solidFill>
              <a:srgbClr val="E3EBF2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909990" cy="4087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43253" y="849975"/>
            <a:ext cx="3146387" cy="2023310"/>
            <a:chOff x="0" y="0"/>
            <a:chExt cx="1443504" cy="92825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239735" y="849975"/>
            <a:ext cx="3146387" cy="2023310"/>
            <a:chOff x="0" y="0"/>
            <a:chExt cx="1443504" cy="92825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3253" y="2920911"/>
            <a:ext cx="3146387" cy="2023310"/>
            <a:chOff x="0" y="0"/>
            <a:chExt cx="1443504" cy="92825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239735" y="2920911"/>
            <a:ext cx="3146387" cy="2023310"/>
            <a:chOff x="0" y="0"/>
            <a:chExt cx="1443504" cy="92825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3189640" y="3210090"/>
            <a:ext cx="3300598" cy="1526386"/>
          </a:xfrm>
          <a:custGeom>
            <a:avLst/>
            <a:gdLst/>
            <a:ahLst/>
            <a:cxnLst/>
            <a:rect r="r" b="b" t="t" l="l"/>
            <a:pathLst>
              <a:path h="1526386" w="3300598">
                <a:moveTo>
                  <a:pt x="0" y="0"/>
                </a:moveTo>
                <a:lnTo>
                  <a:pt x="3300598" y="0"/>
                </a:lnTo>
                <a:lnTo>
                  <a:pt x="3300598" y="1526386"/>
                </a:lnTo>
                <a:lnTo>
                  <a:pt x="0" y="15263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38514" y="942961"/>
            <a:ext cx="1827113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1. Molecular Formula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368900" y="942961"/>
            <a:ext cx="1575495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2. Lewis Structure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8514" y="3016161"/>
            <a:ext cx="2955864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3. Condensed Structural Formula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334997" y="3006636"/>
            <a:ext cx="1998141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4. Bond-Line Formula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017812" y="5196760"/>
            <a:ext cx="2393752" cy="229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34"/>
              </a:lnSpc>
            </a:pPr>
            <a:r>
              <a:rPr lang="en-US" sz="1700" b="true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VERIFICATION STRIP 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725067" y="169979"/>
            <a:ext cx="2979241" cy="5646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4"/>
              </a:lnSpc>
            </a:pPr>
            <a:r>
              <a:rPr lang="en-US" b="true" sz="2200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CARD 02 - ETHANOL</a:t>
            </a:r>
          </a:p>
          <a:p>
            <a:pPr algn="ctr">
              <a:lnSpc>
                <a:spcPts val="2244"/>
              </a:lnSpc>
            </a:pPr>
            <a:r>
              <a:rPr lang="en-US" b="true" sz="2200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C₂H₆O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26939" y="1600527"/>
            <a:ext cx="1979016" cy="617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98"/>
              </a:lnSpc>
            </a:pPr>
            <a:r>
              <a:rPr lang="en-US" b="true" sz="4802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C₂H₆O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301401" y="3676815"/>
            <a:ext cx="2630091" cy="494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6"/>
              </a:lnSpc>
            </a:pPr>
            <a:r>
              <a:rPr lang="en-US" sz="3702" b="true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CH₃</a:t>
            </a:r>
            <a:r>
              <a:rPr lang="en-US" b="true" sz="3702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CH₂OH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3015129" y="1270241"/>
            <a:ext cx="3595599" cy="1484297"/>
            <a:chOff x="0" y="0"/>
            <a:chExt cx="4794132" cy="1979062"/>
          </a:xfrm>
        </p:grpSpPr>
        <p:sp>
          <p:nvSpPr>
            <p:cNvPr name="TextBox 30" id="30"/>
            <p:cNvSpPr txBox="true"/>
            <p:nvPr/>
          </p:nvSpPr>
          <p:spPr>
            <a:xfrm rot="0">
              <a:off x="1615485" y="823060"/>
              <a:ext cx="3178647" cy="3615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04"/>
                </a:lnSpc>
              </a:pPr>
              <a:r>
                <a:rPr lang="en-US" sz="1964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  <a:r>
                <a:rPr lang="en-US" sz="1964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— </a:t>
              </a:r>
              <a:r>
                <a:rPr lang="en-US" sz="1964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 </a:t>
              </a:r>
              <a:r>
                <a:rPr lang="en-US" sz="1964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 </a:t>
              </a:r>
              <a:r>
                <a:rPr lang="en-US" sz="1964" b="true">
                  <a:solidFill>
                    <a:srgbClr val="7DB1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O</a:t>
              </a:r>
              <a:r>
                <a:rPr lang="en-US" sz="1964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— </a:t>
              </a:r>
              <a:r>
                <a:rPr lang="en-US" sz="1964" b="true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1576313" y="28575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-5400000">
              <a:off x="1495950" y="396252"/>
              <a:ext cx="41665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0">
              <a:off x="2347606" y="28575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-5400000">
              <a:off x="2267242" y="396252"/>
              <a:ext cx="41665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-5400000">
              <a:off x="1535388" y="1201754"/>
              <a:ext cx="41665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-5400000">
              <a:off x="2306680" y="1201754"/>
              <a:ext cx="41665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1615485" y="1618793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0">
              <a:off x="2386778" y="1618793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39" id="39"/>
            <p:cNvSpPr txBox="true"/>
            <p:nvPr/>
          </p:nvSpPr>
          <p:spPr>
            <a:xfrm rot="0">
              <a:off x="0" y="813290"/>
              <a:ext cx="2347606" cy="3615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sz="1964" b="true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  <a:r>
                <a:rPr lang="en-US" sz="1964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</a:t>
              </a: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 </a:t>
              </a:r>
            </a:p>
          </p:txBody>
        </p:sp>
        <p:sp>
          <p:nvSpPr>
            <p:cNvPr name="TextBox 40" id="40"/>
            <p:cNvSpPr txBox="true"/>
            <p:nvPr/>
          </p:nvSpPr>
          <p:spPr>
            <a:xfrm rot="0">
              <a:off x="3055957" y="544071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sz="1964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</a:t>
              </a:r>
            </a:p>
          </p:txBody>
        </p:sp>
        <p:sp>
          <p:nvSpPr>
            <p:cNvPr name="TextBox 41" id="41"/>
            <p:cNvSpPr txBox="true"/>
            <p:nvPr/>
          </p:nvSpPr>
          <p:spPr>
            <a:xfrm rot="0">
              <a:off x="3224060" y="544071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sz="1964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</a:t>
              </a:r>
            </a:p>
          </p:txBody>
        </p:sp>
        <p:sp>
          <p:nvSpPr>
            <p:cNvPr name="TextBox 42" id="42"/>
            <p:cNvSpPr txBox="true"/>
            <p:nvPr/>
          </p:nvSpPr>
          <p:spPr>
            <a:xfrm rot="0">
              <a:off x="3076144" y="945616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sz="1964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</a:t>
              </a:r>
            </a:p>
          </p:txBody>
        </p:sp>
        <p:sp>
          <p:nvSpPr>
            <p:cNvPr name="TextBox 43" id="43"/>
            <p:cNvSpPr txBox="true"/>
            <p:nvPr/>
          </p:nvSpPr>
          <p:spPr>
            <a:xfrm rot="0">
              <a:off x="3244246" y="945616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sz="1964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99379" y="5492798"/>
            <a:ext cx="6433135" cy="157330"/>
            <a:chOff x="0" y="0"/>
            <a:chExt cx="8577514" cy="209773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 rot="0">
              <a:off x="54749" y="37792"/>
              <a:ext cx="1804732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atom count verified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0">
              <a:off x="2138716" y="37792"/>
              <a:ext cx="1522716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valence checked</a:t>
              </a:r>
            </a:p>
          </p:txBody>
        </p:sp>
        <p:sp>
          <p:nvSpPr>
            <p:cNvPr name="Freeform 48" id="48"/>
            <p:cNvSpPr/>
            <p:nvPr/>
          </p:nvSpPr>
          <p:spPr>
            <a:xfrm flipH="false" flipV="false" rot="0">
              <a:off x="2028309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 rot="0">
              <a:off x="3882330" y="37792"/>
              <a:ext cx="1850357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bond order checked</a:t>
              </a:r>
            </a:p>
          </p:txBody>
        </p:sp>
        <p:sp>
          <p:nvSpPr>
            <p:cNvPr name="Freeform 50" id="50"/>
            <p:cNvSpPr/>
            <p:nvPr/>
          </p:nvSpPr>
          <p:spPr>
            <a:xfrm flipH="false" flipV="false" rot="0">
              <a:off x="3825680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 rot="0">
              <a:off x="5896935" y="37792"/>
              <a:ext cx="2680579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same connectivity confirmed</a:t>
              </a:r>
            </a:p>
          </p:txBody>
        </p:sp>
        <p:sp>
          <p:nvSpPr>
            <p:cNvPr name="Freeform 52" id="52"/>
            <p:cNvSpPr/>
            <p:nvPr/>
          </p:nvSpPr>
          <p:spPr>
            <a:xfrm flipH="false" flipV="false" rot="0">
              <a:off x="5896935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3" y="0"/>
                  </a:lnTo>
                  <a:lnTo>
                    <a:pt x="220813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91E27">
                <a:alpha val="100000"/>
              </a:srgbClr>
            </a:gs>
            <a:gs pos="100000">
              <a:srgbClr val="48F0E7">
                <a:alpha val="100000"/>
              </a:srgbClr>
            </a:gs>
          </a:gsLst>
          <a:lin ang="189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3253" y="64150"/>
            <a:ext cx="6342869" cy="738200"/>
            <a:chOff x="0" y="0"/>
            <a:chExt cx="2909990" cy="3386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09990" cy="338673"/>
            </a:xfrm>
            <a:custGeom>
              <a:avLst/>
              <a:gdLst/>
              <a:ahLst/>
              <a:cxnLst/>
              <a:rect r="r" b="b" t="t" l="l"/>
              <a:pathLst>
                <a:path h="338673" w="2909990">
                  <a:moveTo>
                    <a:pt x="0" y="0"/>
                  </a:moveTo>
                  <a:lnTo>
                    <a:pt x="2909990" y="0"/>
                  </a:lnTo>
                  <a:lnTo>
                    <a:pt x="2909990" y="338673"/>
                  </a:lnTo>
                  <a:lnTo>
                    <a:pt x="0" y="338673"/>
                  </a:lnTo>
                  <a:close/>
                </a:path>
              </a:pathLst>
            </a:custGeom>
            <a:solidFill>
              <a:srgbClr val="E3EBF2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09990" cy="357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43253" y="5001371"/>
            <a:ext cx="6342869" cy="849504"/>
            <a:chOff x="0" y="0"/>
            <a:chExt cx="2909990" cy="38973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909990" cy="389737"/>
            </a:xfrm>
            <a:custGeom>
              <a:avLst/>
              <a:gdLst/>
              <a:ahLst/>
              <a:cxnLst/>
              <a:rect r="r" b="b" t="t" l="l"/>
              <a:pathLst>
                <a:path h="389737" w="2909990">
                  <a:moveTo>
                    <a:pt x="0" y="0"/>
                  </a:moveTo>
                  <a:lnTo>
                    <a:pt x="2909990" y="0"/>
                  </a:lnTo>
                  <a:lnTo>
                    <a:pt x="2909990" y="389737"/>
                  </a:lnTo>
                  <a:lnTo>
                    <a:pt x="0" y="389737"/>
                  </a:lnTo>
                  <a:close/>
                </a:path>
              </a:pathLst>
            </a:custGeom>
            <a:solidFill>
              <a:srgbClr val="E3EBF2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909990" cy="4087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43253" y="849975"/>
            <a:ext cx="3146387" cy="2023310"/>
            <a:chOff x="0" y="0"/>
            <a:chExt cx="1443504" cy="92825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239735" y="849975"/>
            <a:ext cx="3146387" cy="2023310"/>
            <a:chOff x="0" y="0"/>
            <a:chExt cx="1443504" cy="92825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3253" y="2920911"/>
            <a:ext cx="3146387" cy="2023310"/>
            <a:chOff x="0" y="0"/>
            <a:chExt cx="1443504" cy="92825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239735" y="2920911"/>
            <a:ext cx="3146387" cy="2023310"/>
            <a:chOff x="0" y="0"/>
            <a:chExt cx="1443504" cy="92825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3691464" y="3191040"/>
            <a:ext cx="2175936" cy="1776607"/>
          </a:xfrm>
          <a:custGeom>
            <a:avLst/>
            <a:gdLst/>
            <a:ahLst/>
            <a:cxnLst/>
            <a:rect r="r" b="b" t="t" l="l"/>
            <a:pathLst>
              <a:path h="1776607" w="2175936">
                <a:moveTo>
                  <a:pt x="0" y="0"/>
                </a:moveTo>
                <a:lnTo>
                  <a:pt x="2175936" y="0"/>
                </a:lnTo>
                <a:lnTo>
                  <a:pt x="2175936" y="1776607"/>
                </a:lnTo>
                <a:lnTo>
                  <a:pt x="0" y="177660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38514" y="942961"/>
            <a:ext cx="1827113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1. Molecular Formula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368900" y="942961"/>
            <a:ext cx="1575495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2. Lewis Structure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8514" y="3016161"/>
            <a:ext cx="2955864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3. Condensed Structural Formula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334997" y="3006636"/>
            <a:ext cx="1998141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4. Bond-Line Formula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017812" y="5196760"/>
            <a:ext cx="2393752" cy="229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34"/>
              </a:lnSpc>
            </a:pPr>
            <a:r>
              <a:rPr lang="en-US" sz="1700" b="true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VERIFICATION STRIP 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400397" y="169979"/>
            <a:ext cx="5628581" cy="5646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4"/>
              </a:lnSpc>
            </a:pPr>
            <a:r>
              <a:rPr lang="en-US" b="true" sz="2200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CARD 03 - ACETONE (PROPAN-2-ONE) </a:t>
            </a:r>
          </a:p>
          <a:p>
            <a:pPr algn="ctr">
              <a:lnSpc>
                <a:spcPts val="2244"/>
              </a:lnSpc>
            </a:pPr>
            <a:r>
              <a:rPr lang="en-US" b="true" sz="2200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C₃H₆O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26939" y="1600527"/>
            <a:ext cx="1979016" cy="617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98"/>
              </a:lnSpc>
            </a:pPr>
            <a:r>
              <a:rPr lang="en-US" b="true" sz="4802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C₃H₆O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322535" y="3676815"/>
            <a:ext cx="2587823" cy="494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6"/>
              </a:lnSpc>
            </a:pPr>
            <a:r>
              <a:rPr lang="en-US" sz="3702" b="true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CH₃COCH₃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2921897" y="1260716"/>
            <a:ext cx="3782062" cy="1485232"/>
            <a:chOff x="0" y="0"/>
            <a:chExt cx="5042750" cy="1980310"/>
          </a:xfrm>
        </p:grpSpPr>
        <p:sp>
          <p:nvSpPr>
            <p:cNvPr name="TextBox 30" id="30"/>
            <p:cNvSpPr txBox="true"/>
            <p:nvPr/>
          </p:nvSpPr>
          <p:spPr>
            <a:xfrm rot="0">
              <a:off x="1326918" y="813290"/>
              <a:ext cx="2347606" cy="3615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sz="1964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— </a:t>
              </a:r>
              <a:r>
                <a:rPr lang="en-US" sz="1964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— </a:t>
              </a:r>
              <a:r>
                <a:rPr lang="en-US" sz="1964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1576313" y="28575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-5400000">
              <a:off x="1495950" y="396252"/>
              <a:ext cx="41665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0">
              <a:off x="2347606" y="28575"/>
              <a:ext cx="268928" cy="3615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sz="1964" b="true">
                  <a:solidFill>
                    <a:srgbClr val="7DB1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O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-5400000">
              <a:off x="2247656" y="396252"/>
              <a:ext cx="41665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3118899" y="28575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-5400000">
              <a:off x="3038536" y="396252"/>
              <a:ext cx="41665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-5400000">
              <a:off x="1535388" y="1201754"/>
              <a:ext cx="41665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-5400000">
              <a:off x="3077972" y="1201754"/>
              <a:ext cx="41665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9" id="39"/>
            <p:cNvSpPr txBox="true"/>
            <p:nvPr/>
          </p:nvSpPr>
          <p:spPr>
            <a:xfrm rot="0">
              <a:off x="1615485" y="1618793"/>
              <a:ext cx="268928" cy="3615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sz="1964" b="true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0" id="40"/>
            <p:cNvSpPr txBox="true"/>
            <p:nvPr/>
          </p:nvSpPr>
          <p:spPr>
            <a:xfrm rot="0">
              <a:off x="3158071" y="1618793"/>
              <a:ext cx="268928" cy="3615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sz="1964" b="true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1" id="41"/>
            <p:cNvSpPr txBox="true"/>
            <p:nvPr/>
          </p:nvSpPr>
          <p:spPr>
            <a:xfrm rot="0">
              <a:off x="2695144" y="813290"/>
              <a:ext cx="2347606" cy="3615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 </a:t>
              </a:r>
              <a:r>
                <a:rPr lang="en-US" sz="1964" b="true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2" id="42"/>
            <p:cNvSpPr txBox="true"/>
            <p:nvPr/>
          </p:nvSpPr>
          <p:spPr>
            <a:xfrm rot="0">
              <a:off x="0" y="813290"/>
              <a:ext cx="2347606" cy="3615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sz="1964" b="true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 </a:t>
              </a: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 </a:t>
              </a:r>
            </a:p>
          </p:txBody>
        </p:sp>
        <p:sp>
          <p:nvSpPr>
            <p:cNvPr name="TextBox 43" id="43"/>
            <p:cNvSpPr txBox="true"/>
            <p:nvPr/>
          </p:nvSpPr>
          <p:spPr>
            <a:xfrm rot="-5400000">
              <a:off x="2328402" y="396252"/>
              <a:ext cx="41665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99379" y="5492798"/>
            <a:ext cx="6433135" cy="157330"/>
            <a:chOff x="0" y="0"/>
            <a:chExt cx="8577514" cy="209773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 rot="0">
              <a:off x="54749" y="37792"/>
              <a:ext cx="1804732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atom count verified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0">
              <a:off x="2138716" y="37792"/>
              <a:ext cx="1522716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valence checked</a:t>
              </a:r>
            </a:p>
          </p:txBody>
        </p:sp>
        <p:sp>
          <p:nvSpPr>
            <p:cNvPr name="Freeform 48" id="48"/>
            <p:cNvSpPr/>
            <p:nvPr/>
          </p:nvSpPr>
          <p:spPr>
            <a:xfrm flipH="false" flipV="false" rot="0">
              <a:off x="2028309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 rot="0">
              <a:off x="3882330" y="37792"/>
              <a:ext cx="1850357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bond order checked</a:t>
              </a:r>
            </a:p>
          </p:txBody>
        </p:sp>
        <p:sp>
          <p:nvSpPr>
            <p:cNvPr name="Freeform 50" id="50"/>
            <p:cNvSpPr/>
            <p:nvPr/>
          </p:nvSpPr>
          <p:spPr>
            <a:xfrm flipH="false" flipV="false" rot="0">
              <a:off x="3825680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 rot="0">
              <a:off x="5896935" y="37792"/>
              <a:ext cx="2680579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same connectivity confirmed</a:t>
              </a:r>
            </a:p>
          </p:txBody>
        </p:sp>
        <p:sp>
          <p:nvSpPr>
            <p:cNvPr name="Freeform 52" id="52"/>
            <p:cNvSpPr/>
            <p:nvPr/>
          </p:nvSpPr>
          <p:spPr>
            <a:xfrm flipH="false" flipV="false" rot="0">
              <a:off x="5896935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3" y="0"/>
                  </a:lnTo>
                  <a:lnTo>
                    <a:pt x="220813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91E27">
                <a:alpha val="100000"/>
              </a:srgbClr>
            </a:gs>
            <a:gs pos="100000">
              <a:srgbClr val="48F0E7">
                <a:alpha val="100000"/>
              </a:srgbClr>
            </a:gs>
          </a:gsLst>
          <a:lin ang="189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3253" y="64150"/>
            <a:ext cx="6342869" cy="738200"/>
            <a:chOff x="0" y="0"/>
            <a:chExt cx="2909990" cy="3386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09990" cy="338673"/>
            </a:xfrm>
            <a:custGeom>
              <a:avLst/>
              <a:gdLst/>
              <a:ahLst/>
              <a:cxnLst/>
              <a:rect r="r" b="b" t="t" l="l"/>
              <a:pathLst>
                <a:path h="338673" w="2909990">
                  <a:moveTo>
                    <a:pt x="0" y="0"/>
                  </a:moveTo>
                  <a:lnTo>
                    <a:pt x="2909990" y="0"/>
                  </a:lnTo>
                  <a:lnTo>
                    <a:pt x="2909990" y="338673"/>
                  </a:lnTo>
                  <a:lnTo>
                    <a:pt x="0" y="338673"/>
                  </a:lnTo>
                  <a:close/>
                </a:path>
              </a:pathLst>
            </a:custGeom>
            <a:solidFill>
              <a:srgbClr val="E3EBF2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09990" cy="357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43253" y="5001371"/>
            <a:ext cx="6342869" cy="849504"/>
            <a:chOff x="0" y="0"/>
            <a:chExt cx="2909990" cy="38973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909990" cy="389737"/>
            </a:xfrm>
            <a:custGeom>
              <a:avLst/>
              <a:gdLst/>
              <a:ahLst/>
              <a:cxnLst/>
              <a:rect r="r" b="b" t="t" l="l"/>
              <a:pathLst>
                <a:path h="389737" w="2909990">
                  <a:moveTo>
                    <a:pt x="0" y="0"/>
                  </a:moveTo>
                  <a:lnTo>
                    <a:pt x="2909990" y="0"/>
                  </a:lnTo>
                  <a:lnTo>
                    <a:pt x="2909990" y="389737"/>
                  </a:lnTo>
                  <a:lnTo>
                    <a:pt x="0" y="389737"/>
                  </a:lnTo>
                  <a:close/>
                </a:path>
              </a:pathLst>
            </a:custGeom>
            <a:solidFill>
              <a:srgbClr val="E3EBF2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909990" cy="4087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43253" y="849975"/>
            <a:ext cx="3146387" cy="2023310"/>
            <a:chOff x="0" y="0"/>
            <a:chExt cx="1443504" cy="92825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239735" y="849975"/>
            <a:ext cx="3146387" cy="2023310"/>
            <a:chOff x="0" y="0"/>
            <a:chExt cx="1443504" cy="92825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3253" y="2920911"/>
            <a:ext cx="3146387" cy="2023310"/>
            <a:chOff x="0" y="0"/>
            <a:chExt cx="1443504" cy="92825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239735" y="2920911"/>
            <a:ext cx="3146387" cy="2023310"/>
            <a:chOff x="0" y="0"/>
            <a:chExt cx="1443504" cy="92825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3788458" y="3210090"/>
            <a:ext cx="2311873" cy="1831104"/>
          </a:xfrm>
          <a:custGeom>
            <a:avLst/>
            <a:gdLst/>
            <a:ahLst/>
            <a:cxnLst/>
            <a:rect r="r" b="b" t="t" l="l"/>
            <a:pathLst>
              <a:path h="1831104" w="2311873">
                <a:moveTo>
                  <a:pt x="0" y="0"/>
                </a:moveTo>
                <a:lnTo>
                  <a:pt x="2311873" y="0"/>
                </a:lnTo>
                <a:lnTo>
                  <a:pt x="2311873" y="1831104"/>
                </a:lnTo>
                <a:lnTo>
                  <a:pt x="0" y="18311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38514" y="942961"/>
            <a:ext cx="1827113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1. Molecular Formula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368900" y="942961"/>
            <a:ext cx="1575495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2. Lewis Structure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8514" y="3016161"/>
            <a:ext cx="2955864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3. Condensed Structural Formula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334997" y="3006636"/>
            <a:ext cx="1998141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4. Bond-Line Formula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017812" y="5196760"/>
            <a:ext cx="2393752" cy="229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34"/>
              </a:lnSpc>
            </a:pPr>
            <a:r>
              <a:rPr lang="en-US" sz="1700" b="true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VERIFICATION STRIP 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12762" y="169979"/>
            <a:ext cx="6203851" cy="5646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4"/>
              </a:lnSpc>
            </a:pPr>
            <a:r>
              <a:rPr lang="en-US" b="true" sz="2200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CARD 04 - ACETIC ACID (ETHANOIC ACID) </a:t>
            </a:r>
          </a:p>
          <a:p>
            <a:pPr algn="ctr">
              <a:lnSpc>
                <a:spcPts val="2244"/>
              </a:lnSpc>
            </a:pPr>
            <a:r>
              <a:rPr lang="en-US" b="true" sz="2200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C₂H₄O₂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95806" y="1600527"/>
            <a:ext cx="2241282" cy="617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98"/>
              </a:lnSpc>
            </a:pPr>
            <a:r>
              <a:rPr lang="en-US" b="true" sz="4802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C₂H₄O₂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397544" y="3676815"/>
            <a:ext cx="2437805" cy="494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6"/>
              </a:lnSpc>
            </a:pPr>
            <a:r>
              <a:rPr lang="en-US" sz="3702" b="true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CH₃COOH</a:t>
            </a:r>
          </a:p>
        </p:txBody>
      </p:sp>
      <p:grpSp>
        <p:nvGrpSpPr>
          <p:cNvPr name="Group 29" id="29"/>
          <p:cNvGrpSpPr/>
          <p:nvPr/>
        </p:nvGrpSpPr>
        <p:grpSpPr>
          <a:xfrm rot="-5400000">
            <a:off x="4038910" y="184948"/>
            <a:ext cx="1509936" cy="3566221"/>
            <a:chOff x="0" y="0"/>
            <a:chExt cx="2013248" cy="4754961"/>
          </a:xfrm>
        </p:grpSpPr>
        <p:sp>
          <p:nvSpPr>
            <p:cNvPr name="TextBox 30" id="30"/>
            <p:cNvSpPr txBox="true"/>
            <p:nvPr/>
          </p:nvSpPr>
          <p:spPr>
            <a:xfrm rot="5400000">
              <a:off x="1635889" y="1530642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1194347" y="1524143"/>
              <a:ext cx="41665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1576218" y="2438523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sz="1964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0">
              <a:off x="1744320" y="2438523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sz="1964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5400000">
              <a:off x="1635264" y="2301312"/>
              <a:ext cx="268928" cy="3615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sz="1964" b="true">
                  <a:solidFill>
                    <a:srgbClr val="7DB1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O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1194347" y="2275850"/>
              <a:ext cx="41665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388845" y="1563581"/>
              <a:ext cx="41665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5400000">
              <a:off x="45670" y="1569814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5400000">
              <a:off x="-188790" y="993044"/>
              <a:ext cx="2347606" cy="3615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sz="1964" b="true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 </a:t>
              </a: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 </a:t>
              </a:r>
            </a:p>
          </p:txBody>
        </p:sp>
        <p:sp>
          <p:nvSpPr>
            <p:cNvPr name="TextBox 39" id="39"/>
            <p:cNvSpPr txBox="true"/>
            <p:nvPr/>
          </p:nvSpPr>
          <p:spPr>
            <a:xfrm rot="0">
              <a:off x="1194347" y="2356596"/>
              <a:ext cx="41665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b="true" sz="196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0" id="40"/>
            <p:cNvSpPr txBox="true"/>
            <p:nvPr/>
          </p:nvSpPr>
          <p:spPr>
            <a:xfrm rot="0">
              <a:off x="1556031" y="2036978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sz="1964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</a:t>
              </a:r>
            </a:p>
          </p:txBody>
        </p:sp>
        <p:sp>
          <p:nvSpPr>
            <p:cNvPr name="TextBox 41" id="41"/>
            <p:cNvSpPr txBox="true"/>
            <p:nvPr/>
          </p:nvSpPr>
          <p:spPr>
            <a:xfrm rot="0">
              <a:off x="1724134" y="2036978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sz="1964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</a:t>
              </a:r>
            </a:p>
          </p:txBody>
        </p:sp>
        <p:sp>
          <p:nvSpPr>
            <p:cNvPr name="TextBox 42" id="42"/>
            <p:cNvSpPr txBox="true"/>
            <p:nvPr/>
          </p:nvSpPr>
          <p:spPr>
            <a:xfrm rot="5400000">
              <a:off x="-619012" y="2984878"/>
              <a:ext cx="3178647" cy="3615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04"/>
                </a:lnSpc>
              </a:pPr>
              <a:r>
                <a:rPr lang="en-US" sz="1964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  <a:r>
                <a:rPr lang="en-US" sz="1964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— </a:t>
              </a:r>
              <a:r>
                <a:rPr lang="en-US" sz="1964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 </a:t>
              </a:r>
              <a:r>
                <a:rPr lang="en-US" sz="1964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 </a:t>
              </a:r>
              <a:r>
                <a:rPr lang="en-US" sz="1964" b="true">
                  <a:solidFill>
                    <a:srgbClr val="7DB1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O</a:t>
              </a:r>
              <a:r>
                <a:rPr lang="en-US" sz="1964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— </a:t>
              </a:r>
              <a:r>
                <a:rPr lang="en-US" sz="1964" b="true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3" id="43"/>
            <p:cNvSpPr txBox="true"/>
            <p:nvPr/>
          </p:nvSpPr>
          <p:spPr>
            <a:xfrm rot="5400000">
              <a:off x="1115460" y="2971114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sz="1964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5400000">
              <a:off x="1115460" y="3139218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sz="1964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</a:t>
              </a:r>
            </a:p>
          </p:txBody>
        </p:sp>
        <p:sp>
          <p:nvSpPr>
            <p:cNvPr name="TextBox 45" id="45"/>
            <p:cNvSpPr txBox="true"/>
            <p:nvPr/>
          </p:nvSpPr>
          <p:spPr>
            <a:xfrm rot="5400000">
              <a:off x="713916" y="2991302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sz="1964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</a:t>
              </a:r>
            </a:p>
          </p:txBody>
        </p:sp>
        <p:sp>
          <p:nvSpPr>
            <p:cNvPr name="TextBox 46" id="46"/>
            <p:cNvSpPr txBox="true"/>
            <p:nvPr/>
          </p:nvSpPr>
          <p:spPr>
            <a:xfrm rot="5400000">
              <a:off x="713916" y="3159404"/>
              <a:ext cx="268928" cy="360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04"/>
                </a:lnSpc>
              </a:pPr>
              <a:r>
                <a:rPr lang="en-US" sz="1964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99379" y="5492798"/>
            <a:ext cx="6433135" cy="157330"/>
            <a:chOff x="0" y="0"/>
            <a:chExt cx="8577514" cy="209773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 rot="0">
              <a:off x="54749" y="37792"/>
              <a:ext cx="1804732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atom count verified</a:t>
              </a:r>
            </a:p>
          </p:txBody>
        </p:sp>
        <p:sp>
          <p:nvSpPr>
            <p:cNvPr name="TextBox 50" id="50"/>
            <p:cNvSpPr txBox="true"/>
            <p:nvPr/>
          </p:nvSpPr>
          <p:spPr>
            <a:xfrm rot="0">
              <a:off x="2138716" y="37792"/>
              <a:ext cx="1522716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valence checked</a:t>
              </a:r>
            </a:p>
          </p:txBody>
        </p:sp>
        <p:sp>
          <p:nvSpPr>
            <p:cNvPr name="Freeform 51" id="51"/>
            <p:cNvSpPr/>
            <p:nvPr/>
          </p:nvSpPr>
          <p:spPr>
            <a:xfrm flipH="false" flipV="false" rot="0">
              <a:off x="2028309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 rot="0">
              <a:off x="3882330" y="37792"/>
              <a:ext cx="1850357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bond order checked</a:t>
              </a:r>
            </a:p>
          </p:txBody>
        </p:sp>
        <p:sp>
          <p:nvSpPr>
            <p:cNvPr name="Freeform 53" id="53"/>
            <p:cNvSpPr/>
            <p:nvPr/>
          </p:nvSpPr>
          <p:spPr>
            <a:xfrm flipH="false" flipV="false" rot="0">
              <a:off x="3825680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 rot="0">
              <a:off x="5896935" y="37792"/>
              <a:ext cx="2680579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same connectivity confirmed</a:t>
              </a:r>
            </a:p>
          </p:txBody>
        </p:sp>
        <p:sp>
          <p:nvSpPr>
            <p:cNvPr name="Freeform 55" id="55"/>
            <p:cNvSpPr/>
            <p:nvPr/>
          </p:nvSpPr>
          <p:spPr>
            <a:xfrm flipH="false" flipV="false" rot="0">
              <a:off x="5896935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3" y="0"/>
                  </a:lnTo>
                  <a:lnTo>
                    <a:pt x="220813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91E27">
                <a:alpha val="100000"/>
              </a:srgbClr>
            </a:gs>
            <a:gs pos="100000">
              <a:srgbClr val="48F0E7">
                <a:alpha val="100000"/>
              </a:srgbClr>
            </a:gs>
          </a:gsLst>
          <a:lin ang="189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3253" y="64150"/>
            <a:ext cx="6342869" cy="738200"/>
            <a:chOff x="0" y="0"/>
            <a:chExt cx="2909990" cy="3386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09990" cy="338673"/>
            </a:xfrm>
            <a:custGeom>
              <a:avLst/>
              <a:gdLst/>
              <a:ahLst/>
              <a:cxnLst/>
              <a:rect r="r" b="b" t="t" l="l"/>
              <a:pathLst>
                <a:path h="338673" w="2909990">
                  <a:moveTo>
                    <a:pt x="0" y="0"/>
                  </a:moveTo>
                  <a:lnTo>
                    <a:pt x="2909990" y="0"/>
                  </a:lnTo>
                  <a:lnTo>
                    <a:pt x="2909990" y="338673"/>
                  </a:lnTo>
                  <a:lnTo>
                    <a:pt x="0" y="338673"/>
                  </a:lnTo>
                  <a:close/>
                </a:path>
              </a:pathLst>
            </a:custGeom>
            <a:solidFill>
              <a:srgbClr val="E3EBF2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09990" cy="357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43253" y="5001371"/>
            <a:ext cx="6342869" cy="849504"/>
            <a:chOff x="0" y="0"/>
            <a:chExt cx="2909990" cy="38973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909990" cy="389737"/>
            </a:xfrm>
            <a:custGeom>
              <a:avLst/>
              <a:gdLst/>
              <a:ahLst/>
              <a:cxnLst/>
              <a:rect r="r" b="b" t="t" l="l"/>
              <a:pathLst>
                <a:path h="389737" w="2909990">
                  <a:moveTo>
                    <a:pt x="0" y="0"/>
                  </a:moveTo>
                  <a:lnTo>
                    <a:pt x="2909990" y="0"/>
                  </a:lnTo>
                  <a:lnTo>
                    <a:pt x="2909990" y="389737"/>
                  </a:lnTo>
                  <a:lnTo>
                    <a:pt x="0" y="389737"/>
                  </a:lnTo>
                  <a:close/>
                </a:path>
              </a:pathLst>
            </a:custGeom>
            <a:solidFill>
              <a:srgbClr val="E3EBF2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909990" cy="4087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43253" y="849975"/>
            <a:ext cx="3146387" cy="2023310"/>
            <a:chOff x="0" y="0"/>
            <a:chExt cx="1443504" cy="92825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239735" y="849975"/>
            <a:ext cx="3146387" cy="2023310"/>
            <a:chOff x="0" y="0"/>
            <a:chExt cx="1443504" cy="92825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3253" y="2920911"/>
            <a:ext cx="3146387" cy="2023310"/>
            <a:chOff x="0" y="0"/>
            <a:chExt cx="1443504" cy="92825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239735" y="2920911"/>
            <a:ext cx="3146387" cy="2023310"/>
            <a:chOff x="0" y="0"/>
            <a:chExt cx="1443504" cy="92825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3149475" y="3200565"/>
            <a:ext cx="3236647" cy="1705289"/>
          </a:xfrm>
          <a:custGeom>
            <a:avLst/>
            <a:gdLst/>
            <a:ahLst/>
            <a:cxnLst/>
            <a:rect r="r" b="b" t="t" l="l"/>
            <a:pathLst>
              <a:path h="1705289" w="3236647">
                <a:moveTo>
                  <a:pt x="0" y="0"/>
                </a:moveTo>
                <a:lnTo>
                  <a:pt x="3236647" y="0"/>
                </a:lnTo>
                <a:lnTo>
                  <a:pt x="3236647" y="1705290"/>
                </a:lnTo>
                <a:lnTo>
                  <a:pt x="0" y="17052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38514" y="942961"/>
            <a:ext cx="1827113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1. Molecular Formula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368900" y="942961"/>
            <a:ext cx="1575495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2. Lewis Structure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8514" y="3016161"/>
            <a:ext cx="2955864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3. Condensed Structural Formula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334997" y="3006636"/>
            <a:ext cx="1998141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4. Bond-Line Formula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017812" y="5196760"/>
            <a:ext cx="2393752" cy="229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34"/>
              </a:lnSpc>
            </a:pPr>
            <a:r>
              <a:rPr lang="en-US" sz="1700" b="true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VERIFICATION STRIP 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56021" y="181219"/>
            <a:ext cx="6136382" cy="532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38"/>
              </a:lnSpc>
            </a:pPr>
            <a:r>
              <a:rPr lang="en-US" b="true" sz="1900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CARD 05 - ETHYL ACETATE (ETHYL ETHANOATE) </a:t>
            </a:r>
          </a:p>
          <a:p>
            <a:pPr algn="ctr">
              <a:lnSpc>
                <a:spcPts val="2244"/>
              </a:lnSpc>
            </a:pPr>
            <a:r>
              <a:rPr lang="en-US" b="true" sz="2200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C₄H₈O₂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95806" y="1600527"/>
            <a:ext cx="2241282" cy="617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98"/>
              </a:lnSpc>
            </a:pPr>
            <a:r>
              <a:rPr lang="en-US" b="true" sz="4802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C₄H₈O₂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3418" y="3753015"/>
            <a:ext cx="3066058" cy="380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60"/>
              </a:lnSpc>
            </a:pPr>
            <a:r>
              <a:rPr lang="en-US" sz="2902" b="true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CH₃COOCH₂CH₃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2921472" y="1384541"/>
            <a:ext cx="3821013" cy="1161833"/>
            <a:chOff x="0" y="0"/>
            <a:chExt cx="5094684" cy="1549111"/>
          </a:xfrm>
        </p:grpSpPr>
        <p:sp>
          <p:nvSpPr>
            <p:cNvPr name="TextBox 30" id="30"/>
            <p:cNvSpPr txBox="true"/>
            <p:nvPr/>
          </p:nvSpPr>
          <p:spPr>
            <a:xfrm rot="0">
              <a:off x="1197796" y="45027"/>
              <a:ext cx="204351" cy="2804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sz="1493" b="true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-5400000">
              <a:off x="1135397" y="325746"/>
              <a:ext cx="316606" cy="2764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b="true" sz="14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-5400000">
              <a:off x="1886336" y="91701"/>
              <a:ext cx="204351" cy="2764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sz="1493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0">
              <a:off x="1783879" y="45027"/>
              <a:ext cx="204351" cy="2764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b="true" sz="1493">
                  <a:solidFill>
                    <a:srgbClr val="7DB1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O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-5400000">
              <a:off x="1706598" y="325746"/>
              <a:ext cx="316606" cy="2764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b="true" sz="14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-5400000">
              <a:off x="1165365" y="937824"/>
              <a:ext cx="316606" cy="2764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b="true" sz="14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1227561" y="1253388"/>
              <a:ext cx="204351" cy="2804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sz="1493" b="true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0" y="641310"/>
              <a:ext cx="1783879" cy="2804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sz="1493" b="true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 </a:t>
              </a:r>
              <a:r>
                <a:rPr lang="en-US" b="true" sz="14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 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-5400000">
              <a:off x="1767954" y="325746"/>
              <a:ext cx="316606" cy="2764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b="true" sz="14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9" id="39"/>
            <p:cNvSpPr txBox="true"/>
            <p:nvPr/>
          </p:nvSpPr>
          <p:spPr>
            <a:xfrm rot="-5400000">
              <a:off x="1581214" y="107040"/>
              <a:ext cx="204351" cy="2764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sz="1493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</a:t>
              </a:r>
            </a:p>
          </p:txBody>
        </p:sp>
        <p:sp>
          <p:nvSpPr>
            <p:cNvPr name="TextBox 40" id="40"/>
            <p:cNvSpPr txBox="true"/>
            <p:nvPr/>
          </p:nvSpPr>
          <p:spPr>
            <a:xfrm rot="-5400000">
              <a:off x="1581214" y="-20697"/>
              <a:ext cx="204351" cy="2764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sz="1493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</a:t>
              </a:r>
            </a:p>
          </p:txBody>
        </p:sp>
        <p:sp>
          <p:nvSpPr>
            <p:cNvPr name="TextBox 41" id="41"/>
            <p:cNvSpPr txBox="true"/>
            <p:nvPr/>
          </p:nvSpPr>
          <p:spPr>
            <a:xfrm rot="-5400000">
              <a:off x="1886336" y="-36036"/>
              <a:ext cx="204351" cy="2764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sz="1493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</a:t>
              </a:r>
            </a:p>
          </p:txBody>
        </p:sp>
        <p:sp>
          <p:nvSpPr>
            <p:cNvPr name="TextBox 42" id="42"/>
            <p:cNvSpPr txBox="true"/>
            <p:nvPr/>
          </p:nvSpPr>
          <p:spPr>
            <a:xfrm rot="0">
              <a:off x="2435445" y="745608"/>
              <a:ext cx="204351" cy="2764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sz="1493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</a:t>
              </a:r>
            </a:p>
          </p:txBody>
        </p:sp>
        <p:sp>
          <p:nvSpPr>
            <p:cNvPr name="TextBox 43" id="43"/>
            <p:cNvSpPr txBox="true"/>
            <p:nvPr/>
          </p:nvSpPr>
          <p:spPr>
            <a:xfrm rot="0">
              <a:off x="1197796" y="652481"/>
              <a:ext cx="3896889" cy="28046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22"/>
                </a:lnSpc>
              </a:pPr>
              <a:r>
                <a:rPr lang="en-US" sz="1493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 </a:t>
              </a:r>
              <a:r>
                <a:rPr lang="en-US" sz="1493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 </a:t>
              </a:r>
              <a:r>
                <a:rPr lang="en-US" sz="1493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 </a:t>
              </a:r>
              <a:r>
                <a:rPr lang="en-US" sz="1493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 </a:t>
              </a:r>
              <a:r>
                <a:rPr lang="en-US" sz="1493" b="true">
                  <a:solidFill>
                    <a:srgbClr val="7DB1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O</a:t>
              </a:r>
              <a:r>
                <a:rPr lang="en-US" sz="1493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— </a:t>
              </a:r>
              <a:r>
                <a:rPr lang="en-US" sz="1493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 </a:t>
              </a:r>
              <a:r>
                <a:rPr lang="en-US" sz="1493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  </a:t>
              </a:r>
              <a:r>
                <a:rPr lang="en-US" sz="1493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  </a:t>
              </a:r>
              <a:r>
                <a:rPr lang="en-US" sz="1493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 </a:t>
              </a:r>
              <a:r>
                <a:rPr lang="en-US" sz="1493" b="true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0">
              <a:off x="2292369" y="440486"/>
              <a:ext cx="204351" cy="2764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sz="1493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</a:t>
              </a:r>
            </a:p>
          </p:txBody>
        </p:sp>
        <p:sp>
          <p:nvSpPr>
            <p:cNvPr name="TextBox 45" id="45"/>
            <p:cNvSpPr txBox="true"/>
            <p:nvPr/>
          </p:nvSpPr>
          <p:spPr>
            <a:xfrm rot="0">
              <a:off x="2420106" y="440486"/>
              <a:ext cx="204351" cy="2764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sz="1493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</a:t>
              </a:r>
            </a:p>
          </p:txBody>
        </p:sp>
        <p:sp>
          <p:nvSpPr>
            <p:cNvPr name="TextBox 46" id="46"/>
            <p:cNvSpPr txBox="true"/>
            <p:nvPr/>
          </p:nvSpPr>
          <p:spPr>
            <a:xfrm rot="0">
              <a:off x="2307709" y="745608"/>
              <a:ext cx="204351" cy="2764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sz="1493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0">
              <a:off x="2971362" y="64328"/>
              <a:ext cx="204351" cy="2764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b="true" sz="1493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8" id="48"/>
            <p:cNvSpPr txBox="true"/>
            <p:nvPr/>
          </p:nvSpPr>
          <p:spPr>
            <a:xfrm rot="-5400000">
              <a:off x="2908964" y="345047"/>
              <a:ext cx="316606" cy="2764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b="true" sz="14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9" id="49"/>
            <p:cNvSpPr txBox="true"/>
            <p:nvPr/>
          </p:nvSpPr>
          <p:spPr>
            <a:xfrm rot="0">
              <a:off x="3557446" y="64328"/>
              <a:ext cx="204351" cy="2764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b="true" sz="1493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50" id="50"/>
            <p:cNvSpPr txBox="true"/>
            <p:nvPr/>
          </p:nvSpPr>
          <p:spPr>
            <a:xfrm rot="-5400000">
              <a:off x="3495047" y="345047"/>
              <a:ext cx="316606" cy="2764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b="true" sz="14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1" id="51"/>
            <p:cNvSpPr txBox="true"/>
            <p:nvPr/>
          </p:nvSpPr>
          <p:spPr>
            <a:xfrm rot="-5400000">
              <a:off x="2938932" y="957125"/>
              <a:ext cx="316606" cy="2764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b="true" sz="14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-5400000">
              <a:off x="3525015" y="957125"/>
              <a:ext cx="316606" cy="2764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b="true" sz="14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3" id="53"/>
            <p:cNvSpPr txBox="true"/>
            <p:nvPr/>
          </p:nvSpPr>
          <p:spPr>
            <a:xfrm rot="0">
              <a:off x="3001127" y="1272689"/>
              <a:ext cx="204351" cy="2764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b="true" sz="1493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54" id="54"/>
            <p:cNvSpPr txBox="true"/>
            <p:nvPr/>
          </p:nvSpPr>
          <p:spPr>
            <a:xfrm rot="0">
              <a:off x="3587211" y="1272689"/>
              <a:ext cx="204351" cy="2764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22"/>
                </a:lnSpc>
              </a:pPr>
              <a:r>
                <a:rPr lang="en-US" b="true" sz="1493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99379" y="5492798"/>
            <a:ext cx="6433135" cy="157330"/>
            <a:chOff x="0" y="0"/>
            <a:chExt cx="8577514" cy="209773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 rot="0">
              <a:off x="54749" y="37792"/>
              <a:ext cx="1804732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atom count verified</a:t>
              </a:r>
            </a:p>
          </p:txBody>
        </p:sp>
        <p:sp>
          <p:nvSpPr>
            <p:cNvPr name="TextBox 58" id="58"/>
            <p:cNvSpPr txBox="true"/>
            <p:nvPr/>
          </p:nvSpPr>
          <p:spPr>
            <a:xfrm rot="0">
              <a:off x="2138716" y="37792"/>
              <a:ext cx="1522716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valence checked</a:t>
              </a:r>
            </a:p>
          </p:txBody>
        </p:sp>
        <p:sp>
          <p:nvSpPr>
            <p:cNvPr name="Freeform 59" id="59"/>
            <p:cNvSpPr/>
            <p:nvPr/>
          </p:nvSpPr>
          <p:spPr>
            <a:xfrm flipH="false" flipV="false" rot="0">
              <a:off x="2028309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 rot="0">
              <a:off x="3882330" y="37792"/>
              <a:ext cx="1850357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bond order checked</a:t>
              </a:r>
            </a:p>
          </p:txBody>
        </p:sp>
        <p:sp>
          <p:nvSpPr>
            <p:cNvPr name="Freeform 61" id="61"/>
            <p:cNvSpPr/>
            <p:nvPr/>
          </p:nvSpPr>
          <p:spPr>
            <a:xfrm flipH="false" flipV="false" rot="0">
              <a:off x="3825680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 rot="0">
              <a:off x="5896935" y="37792"/>
              <a:ext cx="2680579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same connectivity confirmed</a:t>
              </a:r>
            </a:p>
          </p:txBody>
        </p:sp>
        <p:sp>
          <p:nvSpPr>
            <p:cNvPr name="Freeform 63" id="63"/>
            <p:cNvSpPr/>
            <p:nvPr/>
          </p:nvSpPr>
          <p:spPr>
            <a:xfrm flipH="false" flipV="false" rot="0">
              <a:off x="5896935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3" y="0"/>
                  </a:lnTo>
                  <a:lnTo>
                    <a:pt x="220813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91E27">
                <a:alpha val="100000"/>
              </a:srgbClr>
            </a:gs>
            <a:gs pos="100000">
              <a:srgbClr val="48F0E7">
                <a:alpha val="100000"/>
              </a:srgbClr>
            </a:gs>
          </a:gsLst>
          <a:lin ang="189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3253" y="64150"/>
            <a:ext cx="6342869" cy="738200"/>
            <a:chOff x="0" y="0"/>
            <a:chExt cx="2909990" cy="3386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09990" cy="338673"/>
            </a:xfrm>
            <a:custGeom>
              <a:avLst/>
              <a:gdLst/>
              <a:ahLst/>
              <a:cxnLst/>
              <a:rect r="r" b="b" t="t" l="l"/>
              <a:pathLst>
                <a:path h="338673" w="2909990">
                  <a:moveTo>
                    <a:pt x="0" y="0"/>
                  </a:moveTo>
                  <a:lnTo>
                    <a:pt x="2909990" y="0"/>
                  </a:lnTo>
                  <a:lnTo>
                    <a:pt x="2909990" y="338673"/>
                  </a:lnTo>
                  <a:lnTo>
                    <a:pt x="0" y="338673"/>
                  </a:lnTo>
                  <a:close/>
                </a:path>
              </a:pathLst>
            </a:custGeom>
            <a:solidFill>
              <a:srgbClr val="E3EBF2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09990" cy="357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43253" y="5001371"/>
            <a:ext cx="6342869" cy="849504"/>
            <a:chOff x="0" y="0"/>
            <a:chExt cx="2909990" cy="38973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909990" cy="389737"/>
            </a:xfrm>
            <a:custGeom>
              <a:avLst/>
              <a:gdLst/>
              <a:ahLst/>
              <a:cxnLst/>
              <a:rect r="r" b="b" t="t" l="l"/>
              <a:pathLst>
                <a:path h="389737" w="2909990">
                  <a:moveTo>
                    <a:pt x="0" y="0"/>
                  </a:moveTo>
                  <a:lnTo>
                    <a:pt x="2909990" y="0"/>
                  </a:lnTo>
                  <a:lnTo>
                    <a:pt x="2909990" y="389737"/>
                  </a:lnTo>
                  <a:lnTo>
                    <a:pt x="0" y="389737"/>
                  </a:lnTo>
                  <a:close/>
                </a:path>
              </a:pathLst>
            </a:custGeom>
            <a:solidFill>
              <a:srgbClr val="E3EBF2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909990" cy="4087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43253" y="849975"/>
            <a:ext cx="3146387" cy="2023310"/>
            <a:chOff x="0" y="0"/>
            <a:chExt cx="1443504" cy="92825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239735" y="849975"/>
            <a:ext cx="3146387" cy="2023310"/>
            <a:chOff x="0" y="0"/>
            <a:chExt cx="1443504" cy="92825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3253" y="2920911"/>
            <a:ext cx="3146387" cy="2023310"/>
            <a:chOff x="0" y="0"/>
            <a:chExt cx="1443504" cy="92825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239735" y="2920911"/>
            <a:ext cx="3146387" cy="2023310"/>
            <a:chOff x="0" y="0"/>
            <a:chExt cx="1443504" cy="92825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3907519" y="3149473"/>
            <a:ext cx="1810820" cy="1869129"/>
          </a:xfrm>
          <a:custGeom>
            <a:avLst/>
            <a:gdLst/>
            <a:ahLst/>
            <a:cxnLst/>
            <a:rect r="r" b="b" t="t" l="l"/>
            <a:pathLst>
              <a:path h="1869129" w="1810820">
                <a:moveTo>
                  <a:pt x="0" y="0"/>
                </a:moveTo>
                <a:lnTo>
                  <a:pt x="1810819" y="0"/>
                </a:lnTo>
                <a:lnTo>
                  <a:pt x="1810819" y="1869129"/>
                </a:lnTo>
                <a:lnTo>
                  <a:pt x="0" y="186912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38514" y="942961"/>
            <a:ext cx="1827113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1. Molecular Formula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368900" y="942961"/>
            <a:ext cx="1575495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2. Lewis Structure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8514" y="3016161"/>
            <a:ext cx="2955864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3. Condensed Structural Formula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334997" y="3006636"/>
            <a:ext cx="1998141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4. Bond-Line Formula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017812" y="5196760"/>
            <a:ext cx="2393752" cy="229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34"/>
              </a:lnSpc>
            </a:pPr>
            <a:r>
              <a:rPr lang="en-US" sz="1700" b="true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VERIFICATION STRIP 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84585" y="169979"/>
            <a:ext cx="3860205" cy="5646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4"/>
              </a:lnSpc>
            </a:pPr>
            <a:r>
              <a:rPr lang="en-US" b="true" sz="2200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CARD 06 - CYCLOHEXANE </a:t>
            </a:r>
          </a:p>
          <a:p>
            <a:pPr algn="ctr">
              <a:lnSpc>
                <a:spcPts val="2244"/>
              </a:lnSpc>
            </a:pPr>
            <a:r>
              <a:rPr lang="en-US" b="true" sz="2200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C₆H₁₂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53091" y="1600527"/>
            <a:ext cx="1726712" cy="617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98"/>
              </a:lnSpc>
            </a:pPr>
            <a:r>
              <a:rPr lang="en-US" b="true" sz="4802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C₆H₁₂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12985" y="3819193"/>
            <a:ext cx="3006923" cy="264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2"/>
              </a:lnSpc>
            </a:pPr>
            <a:r>
              <a:rPr lang="en-US" sz="2002" b="true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CH₂CH₂CH₂CH₂CH₂CH₂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4015606" y="1136891"/>
            <a:ext cx="1594646" cy="1693818"/>
            <a:chOff x="0" y="0"/>
            <a:chExt cx="2126194" cy="2258424"/>
          </a:xfrm>
        </p:grpSpPr>
        <p:sp>
          <p:nvSpPr>
            <p:cNvPr name="TextBox 30" id="30"/>
            <p:cNvSpPr txBox="true"/>
            <p:nvPr/>
          </p:nvSpPr>
          <p:spPr>
            <a:xfrm rot="0">
              <a:off x="996353" y="485204"/>
              <a:ext cx="256057" cy="2400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30"/>
                </a:lnSpc>
              </a:pPr>
              <a:r>
                <a:rPr lang="en-US" sz="1304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593533" y="744255"/>
              <a:ext cx="256057" cy="2400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30"/>
                </a:lnSpc>
              </a:pPr>
              <a:r>
                <a:rPr lang="en-US" sz="1304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1396697" y="744255"/>
              <a:ext cx="256057" cy="2400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30"/>
                </a:lnSpc>
              </a:pPr>
              <a:r>
                <a:rPr lang="en-US" sz="1304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-5400000">
              <a:off x="536162" y="1003016"/>
              <a:ext cx="276692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0">
              <a:off x="589316" y="1279998"/>
              <a:ext cx="178589" cy="2366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sz="1304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-5400000">
              <a:off x="1338653" y="1003016"/>
              <a:ext cx="276692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1400983" y="1279998"/>
              <a:ext cx="178589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1018551" y="1538221"/>
              <a:ext cx="256057" cy="2400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30"/>
                </a:lnSpc>
              </a:pPr>
              <a:r>
                <a:rPr lang="en-US" sz="1304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-1687261">
              <a:off x="715732" y="556331"/>
              <a:ext cx="276692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9" id="39"/>
            <p:cNvSpPr txBox="true"/>
            <p:nvPr/>
          </p:nvSpPr>
          <p:spPr>
            <a:xfrm rot="-9107212">
              <a:off x="1173486" y="547575"/>
              <a:ext cx="276692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0" id="40"/>
            <p:cNvSpPr txBox="true"/>
            <p:nvPr/>
          </p:nvSpPr>
          <p:spPr>
            <a:xfrm rot="-1687261">
              <a:off x="1204506" y="1462028"/>
              <a:ext cx="276692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1" id="41"/>
            <p:cNvSpPr txBox="true"/>
            <p:nvPr/>
          </p:nvSpPr>
          <p:spPr>
            <a:xfrm rot="-9107212">
              <a:off x="727715" y="1445332"/>
              <a:ext cx="276692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2" id="42"/>
            <p:cNvSpPr txBox="true"/>
            <p:nvPr/>
          </p:nvSpPr>
          <p:spPr>
            <a:xfrm rot="0">
              <a:off x="827392" y="19050"/>
              <a:ext cx="178589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3" id="43"/>
            <p:cNvSpPr txBox="true"/>
            <p:nvPr/>
          </p:nvSpPr>
          <p:spPr>
            <a:xfrm rot="3912592">
              <a:off x="844521" y="257705"/>
              <a:ext cx="276692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6767409">
              <a:off x="1062509" y="252197"/>
              <a:ext cx="276692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5" id="45"/>
            <p:cNvSpPr txBox="true"/>
            <p:nvPr/>
          </p:nvSpPr>
          <p:spPr>
            <a:xfrm rot="0">
              <a:off x="1185314" y="19050"/>
              <a:ext cx="178589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6" id="46"/>
            <p:cNvSpPr txBox="true"/>
            <p:nvPr/>
          </p:nvSpPr>
          <p:spPr>
            <a:xfrm rot="-6887407">
              <a:off x="1091776" y="1749960"/>
              <a:ext cx="276692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-4032590">
              <a:off x="873788" y="1755469"/>
              <a:ext cx="276692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8" id="48"/>
            <p:cNvSpPr txBox="true"/>
            <p:nvPr/>
          </p:nvSpPr>
          <p:spPr>
            <a:xfrm rot="0">
              <a:off x="845746" y="2019251"/>
              <a:ext cx="178589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9" id="49"/>
            <p:cNvSpPr txBox="true"/>
            <p:nvPr/>
          </p:nvSpPr>
          <p:spPr>
            <a:xfrm rot="0">
              <a:off x="1203668" y="2019251"/>
              <a:ext cx="178589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50" id="50"/>
            <p:cNvSpPr txBox="true"/>
            <p:nvPr/>
          </p:nvSpPr>
          <p:spPr>
            <a:xfrm rot="0">
              <a:off x="1769017" y="313858"/>
              <a:ext cx="178589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51" id="51"/>
            <p:cNvSpPr txBox="true"/>
            <p:nvPr/>
          </p:nvSpPr>
          <p:spPr>
            <a:xfrm rot="7885243">
              <a:off x="1537534" y="527827"/>
              <a:ext cx="276692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10740059">
              <a:off x="1630504" y="725071"/>
              <a:ext cx="276692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3" id="53"/>
            <p:cNvSpPr txBox="true"/>
            <p:nvPr/>
          </p:nvSpPr>
          <p:spPr>
            <a:xfrm rot="10761885">
              <a:off x="1636259" y="1285302"/>
              <a:ext cx="276692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4" id="54"/>
            <p:cNvSpPr txBox="true"/>
            <p:nvPr/>
          </p:nvSpPr>
          <p:spPr>
            <a:xfrm rot="-7983297">
              <a:off x="1552083" y="1486456"/>
              <a:ext cx="276692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5" id="55"/>
            <p:cNvSpPr txBox="true"/>
            <p:nvPr/>
          </p:nvSpPr>
          <p:spPr>
            <a:xfrm rot="-2914756">
              <a:off x="345436" y="1503880"/>
              <a:ext cx="276692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6" id="56"/>
            <p:cNvSpPr txBox="true"/>
            <p:nvPr/>
          </p:nvSpPr>
          <p:spPr>
            <a:xfrm rot="-59940">
              <a:off x="252466" y="1306635"/>
              <a:ext cx="276692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7" id="57"/>
            <p:cNvSpPr txBox="true"/>
            <p:nvPr/>
          </p:nvSpPr>
          <p:spPr>
            <a:xfrm rot="-38114">
              <a:off x="246711" y="746405"/>
              <a:ext cx="276692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8" id="58"/>
            <p:cNvSpPr txBox="true"/>
            <p:nvPr/>
          </p:nvSpPr>
          <p:spPr>
            <a:xfrm rot="2816702">
              <a:off x="330887" y="545251"/>
              <a:ext cx="276692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9" id="59"/>
            <p:cNvSpPr txBox="true"/>
            <p:nvPr/>
          </p:nvSpPr>
          <p:spPr>
            <a:xfrm rot="0">
              <a:off x="1947605" y="744120"/>
              <a:ext cx="178589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60" id="60"/>
            <p:cNvSpPr txBox="true"/>
            <p:nvPr/>
          </p:nvSpPr>
          <p:spPr>
            <a:xfrm rot="0">
              <a:off x="1947605" y="1285874"/>
              <a:ext cx="178589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61" id="61"/>
            <p:cNvSpPr txBox="true"/>
            <p:nvPr/>
          </p:nvSpPr>
          <p:spPr>
            <a:xfrm rot="0">
              <a:off x="1820298" y="1696263"/>
              <a:ext cx="178589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62" id="62"/>
            <p:cNvSpPr txBox="true"/>
            <p:nvPr/>
          </p:nvSpPr>
          <p:spPr>
            <a:xfrm rot="0">
              <a:off x="0" y="792288"/>
              <a:ext cx="178589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63" id="63"/>
            <p:cNvSpPr txBox="true"/>
            <p:nvPr/>
          </p:nvSpPr>
          <p:spPr>
            <a:xfrm rot="0">
              <a:off x="0" y="1334041"/>
              <a:ext cx="178589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64" id="64"/>
            <p:cNvSpPr txBox="true"/>
            <p:nvPr/>
          </p:nvSpPr>
          <p:spPr>
            <a:xfrm rot="0">
              <a:off x="155888" y="1750318"/>
              <a:ext cx="178589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65" id="65"/>
            <p:cNvSpPr txBox="true"/>
            <p:nvPr/>
          </p:nvSpPr>
          <p:spPr>
            <a:xfrm rot="0">
              <a:off x="178589" y="356507"/>
              <a:ext cx="178589" cy="239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0"/>
                </a:lnSpc>
              </a:pPr>
              <a:r>
                <a:rPr lang="en-US" b="true" sz="1304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99379" y="5492798"/>
            <a:ext cx="6433135" cy="157330"/>
            <a:chOff x="0" y="0"/>
            <a:chExt cx="8577514" cy="209773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 rot="0">
              <a:off x="54749" y="37792"/>
              <a:ext cx="1804732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atom count verified</a:t>
              </a:r>
            </a:p>
          </p:txBody>
        </p:sp>
        <p:sp>
          <p:nvSpPr>
            <p:cNvPr name="TextBox 69" id="69"/>
            <p:cNvSpPr txBox="true"/>
            <p:nvPr/>
          </p:nvSpPr>
          <p:spPr>
            <a:xfrm rot="0">
              <a:off x="2138716" y="37792"/>
              <a:ext cx="1522716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valence checked</a:t>
              </a:r>
            </a:p>
          </p:txBody>
        </p:sp>
        <p:sp>
          <p:nvSpPr>
            <p:cNvPr name="Freeform 70" id="70"/>
            <p:cNvSpPr/>
            <p:nvPr/>
          </p:nvSpPr>
          <p:spPr>
            <a:xfrm flipH="false" flipV="false" rot="0">
              <a:off x="2028309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1" id="71"/>
            <p:cNvSpPr txBox="true"/>
            <p:nvPr/>
          </p:nvSpPr>
          <p:spPr>
            <a:xfrm rot="0">
              <a:off x="3882330" y="37792"/>
              <a:ext cx="1850357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bond order checked</a:t>
              </a:r>
            </a:p>
          </p:txBody>
        </p:sp>
        <p:sp>
          <p:nvSpPr>
            <p:cNvPr name="Freeform 72" id="72"/>
            <p:cNvSpPr/>
            <p:nvPr/>
          </p:nvSpPr>
          <p:spPr>
            <a:xfrm flipH="false" flipV="false" rot="0">
              <a:off x="3825680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 rot="0">
              <a:off x="5896935" y="37792"/>
              <a:ext cx="2680579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same connectivity confirmed</a:t>
              </a:r>
            </a:p>
          </p:txBody>
        </p:sp>
        <p:sp>
          <p:nvSpPr>
            <p:cNvPr name="Freeform 74" id="74"/>
            <p:cNvSpPr/>
            <p:nvPr/>
          </p:nvSpPr>
          <p:spPr>
            <a:xfrm flipH="false" flipV="false" rot="0">
              <a:off x="5896935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3" y="0"/>
                  </a:lnTo>
                  <a:lnTo>
                    <a:pt x="220813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91E27">
                <a:alpha val="100000"/>
              </a:srgbClr>
            </a:gs>
            <a:gs pos="100000">
              <a:srgbClr val="48F0E7">
                <a:alpha val="100000"/>
              </a:srgbClr>
            </a:gs>
          </a:gsLst>
          <a:lin ang="189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3253" y="64150"/>
            <a:ext cx="6342869" cy="738200"/>
            <a:chOff x="0" y="0"/>
            <a:chExt cx="2909990" cy="3386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09990" cy="338673"/>
            </a:xfrm>
            <a:custGeom>
              <a:avLst/>
              <a:gdLst/>
              <a:ahLst/>
              <a:cxnLst/>
              <a:rect r="r" b="b" t="t" l="l"/>
              <a:pathLst>
                <a:path h="338673" w="2909990">
                  <a:moveTo>
                    <a:pt x="0" y="0"/>
                  </a:moveTo>
                  <a:lnTo>
                    <a:pt x="2909990" y="0"/>
                  </a:lnTo>
                  <a:lnTo>
                    <a:pt x="2909990" y="338673"/>
                  </a:lnTo>
                  <a:lnTo>
                    <a:pt x="0" y="338673"/>
                  </a:lnTo>
                  <a:close/>
                </a:path>
              </a:pathLst>
            </a:custGeom>
            <a:solidFill>
              <a:srgbClr val="E3EBF2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09990" cy="357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43253" y="5001371"/>
            <a:ext cx="6342869" cy="849504"/>
            <a:chOff x="0" y="0"/>
            <a:chExt cx="2909990" cy="38973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909990" cy="389737"/>
            </a:xfrm>
            <a:custGeom>
              <a:avLst/>
              <a:gdLst/>
              <a:ahLst/>
              <a:cxnLst/>
              <a:rect r="r" b="b" t="t" l="l"/>
              <a:pathLst>
                <a:path h="389737" w="2909990">
                  <a:moveTo>
                    <a:pt x="0" y="0"/>
                  </a:moveTo>
                  <a:lnTo>
                    <a:pt x="2909990" y="0"/>
                  </a:lnTo>
                  <a:lnTo>
                    <a:pt x="2909990" y="389737"/>
                  </a:lnTo>
                  <a:lnTo>
                    <a:pt x="0" y="389737"/>
                  </a:lnTo>
                  <a:close/>
                </a:path>
              </a:pathLst>
            </a:custGeom>
            <a:solidFill>
              <a:srgbClr val="E3EBF2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909990" cy="4087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43253" y="849975"/>
            <a:ext cx="3146387" cy="2023310"/>
            <a:chOff x="0" y="0"/>
            <a:chExt cx="1443504" cy="92825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239735" y="849975"/>
            <a:ext cx="3146387" cy="2023310"/>
            <a:chOff x="0" y="0"/>
            <a:chExt cx="1443504" cy="92825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3253" y="2920911"/>
            <a:ext cx="3146387" cy="2023310"/>
            <a:chOff x="0" y="0"/>
            <a:chExt cx="1443504" cy="92825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239735" y="2920911"/>
            <a:ext cx="3146387" cy="2023310"/>
            <a:chOff x="0" y="0"/>
            <a:chExt cx="1443504" cy="92825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3600122" y="3181515"/>
            <a:ext cx="2267278" cy="1696539"/>
          </a:xfrm>
          <a:custGeom>
            <a:avLst/>
            <a:gdLst/>
            <a:ahLst/>
            <a:cxnLst/>
            <a:rect r="r" b="b" t="t" l="l"/>
            <a:pathLst>
              <a:path h="1696539" w="2267278">
                <a:moveTo>
                  <a:pt x="0" y="0"/>
                </a:moveTo>
                <a:lnTo>
                  <a:pt x="2267278" y="0"/>
                </a:lnTo>
                <a:lnTo>
                  <a:pt x="2267278" y="1696539"/>
                </a:lnTo>
                <a:lnTo>
                  <a:pt x="0" y="16965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38514" y="942961"/>
            <a:ext cx="1827113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1. Molecular Formula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368900" y="942961"/>
            <a:ext cx="1575495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2. Lewis Structure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8514" y="3016161"/>
            <a:ext cx="2955864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3. Condensed Structural Formula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334997" y="3006636"/>
            <a:ext cx="1998141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4. Bond-Line Formula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017812" y="5196760"/>
            <a:ext cx="2393752" cy="229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34"/>
              </a:lnSpc>
            </a:pPr>
            <a:r>
              <a:rPr lang="en-US" sz="1700" b="true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VERIFICATION STRIP 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56729" y="169979"/>
            <a:ext cx="4315917" cy="5646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4"/>
              </a:lnSpc>
            </a:pPr>
            <a:r>
              <a:rPr lang="en-US" b="true" sz="2200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CARD 07 - CYCLOHEXANONE </a:t>
            </a:r>
          </a:p>
          <a:p>
            <a:pPr algn="ctr">
              <a:lnSpc>
                <a:spcPts val="2244"/>
              </a:lnSpc>
            </a:pPr>
            <a:r>
              <a:rPr lang="en-US" b="true" sz="2200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C₆H₁₀O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95806" y="1600527"/>
            <a:ext cx="2241282" cy="617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98"/>
              </a:lnSpc>
            </a:pPr>
            <a:r>
              <a:rPr lang="en-US" b="true" sz="4802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C₆H₁₀O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516706" y="3676815"/>
            <a:ext cx="2199481" cy="494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6"/>
              </a:lnSpc>
            </a:pPr>
            <a:r>
              <a:rPr lang="en-US" sz="3702" b="true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(CH₂)₅CO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4013498" y="1136891"/>
            <a:ext cx="1598861" cy="1698295"/>
            <a:chOff x="0" y="0"/>
            <a:chExt cx="2131814" cy="2264393"/>
          </a:xfrm>
        </p:grpSpPr>
        <p:sp>
          <p:nvSpPr>
            <p:cNvPr name="TextBox 30" id="30"/>
            <p:cNvSpPr txBox="true"/>
            <p:nvPr/>
          </p:nvSpPr>
          <p:spPr>
            <a:xfrm rot="0">
              <a:off x="998987" y="486436"/>
              <a:ext cx="256734" cy="2367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34"/>
                </a:lnSpc>
              </a:pPr>
              <a:r>
                <a:rPr lang="en-US" sz="1308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595102" y="746172"/>
              <a:ext cx="256734" cy="2367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34"/>
                </a:lnSpc>
              </a:pPr>
              <a:r>
                <a:rPr lang="en-US" sz="1308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1400388" y="746172"/>
              <a:ext cx="256734" cy="2367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34"/>
                </a:lnSpc>
              </a:pPr>
              <a:r>
                <a:rPr lang="en-US" sz="1308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-5400000">
              <a:off x="537554" y="1005642"/>
              <a:ext cx="277424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0">
              <a:off x="590874" y="1283331"/>
              <a:ext cx="179061" cy="2367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sz="1308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-5400000">
              <a:off x="1342166" y="1005642"/>
              <a:ext cx="277424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1404686" y="1283331"/>
              <a:ext cx="179061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1021244" y="1542237"/>
              <a:ext cx="256734" cy="2406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34"/>
                </a:lnSpc>
              </a:pPr>
              <a:r>
                <a:rPr lang="en-US" sz="1308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-1687261">
              <a:off x="717612" y="557754"/>
              <a:ext cx="277424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9" id="39"/>
            <p:cNvSpPr txBox="true"/>
            <p:nvPr/>
          </p:nvSpPr>
          <p:spPr>
            <a:xfrm rot="-9107212">
              <a:off x="1176576" y="549020"/>
              <a:ext cx="277424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0" id="40"/>
            <p:cNvSpPr txBox="true"/>
            <p:nvPr/>
          </p:nvSpPr>
          <p:spPr>
            <a:xfrm rot="-1687261">
              <a:off x="1207678" y="1465845"/>
              <a:ext cx="277424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1" id="41"/>
            <p:cNvSpPr txBox="true"/>
            <p:nvPr/>
          </p:nvSpPr>
          <p:spPr>
            <a:xfrm rot="-9107212">
              <a:off x="729627" y="1449150"/>
              <a:ext cx="277424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2" id="42"/>
            <p:cNvSpPr txBox="true"/>
            <p:nvPr/>
          </p:nvSpPr>
          <p:spPr>
            <a:xfrm rot="0">
              <a:off x="829579" y="19050"/>
              <a:ext cx="179061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3" id="43"/>
            <p:cNvSpPr txBox="true"/>
            <p:nvPr/>
          </p:nvSpPr>
          <p:spPr>
            <a:xfrm rot="3912592">
              <a:off x="846776" y="258351"/>
              <a:ext cx="277424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6767409">
              <a:off x="1065340" y="252848"/>
              <a:ext cx="277424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5" id="45"/>
            <p:cNvSpPr txBox="true"/>
            <p:nvPr/>
          </p:nvSpPr>
          <p:spPr>
            <a:xfrm rot="0">
              <a:off x="1188447" y="19050"/>
              <a:ext cx="179061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6" id="46"/>
            <p:cNvSpPr txBox="true"/>
            <p:nvPr/>
          </p:nvSpPr>
          <p:spPr>
            <a:xfrm rot="-6887407">
              <a:off x="1094639" y="1754571"/>
              <a:ext cx="277424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-4032590">
              <a:off x="876075" y="1760074"/>
              <a:ext cx="277424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8" id="48"/>
            <p:cNvSpPr txBox="true"/>
            <p:nvPr/>
          </p:nvSpPr>
          <p:spPr>
            <a:xfrm rot="0">
              <a:off x="847982" y="2024538"/>
              <a:ext cx="179061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9" id="49"/>
            <p:cNvSpPr txBox="true"/>
            <p:nvPr/>
          </p:nvSpPr>
          <p:spPr>
            <a:xfrm rot="0">
              <a:off x="1206850" y="2024538"/>
              <a:ext cx="179061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50" id="50"/>
            <p:cNvSpPr txBox="true"/>
            <p:nvPr/>
          </p:nvSpPr>
          <p:spPr>
            <a:xfrm rot="10740059">
              <a:off x="1614004" y="768538"/>
              <a:ext cx="277424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1" id="51"/>
            <p:cNvSpPr txBox="true"/>
            <p:nvPr/>
          </p:nvSpPr>
          <p:spPr>
            <a:xfrm rot="10761885">
              <a:off x="1640584" y="1288699"/>
              <a:ext cx="277424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-7983297">
              <a:off x="1556167" y="1490377"/>
              <a:ext cx="277424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3" id="53"/>
            <p:cNvSpPr txBox="true"/>
            <p:nvPr/>
          </p:nvSpPr>
          <p:spPr>
            <a:xfrm rot="-2914756">
              <a:off x="346330" y="1507813"/>
              <a:ext cx="277424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4" id="54"/>
            <p:cNvSpPr txBox="true"/>
            <p:nvPr/>
          </p:nvSpPr>
          <p:spPr>
            <a:xfrm rot="-59940">
              <a:off x="253132" y="1310039"/>
              <a:ext cx="277424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5" id="55"/>
            <p:cNvSpPr txBox="true"/>
            <p:nvPr/>
          </p:nvSpPr>
          <p:spPr>
            <a:xfrm rot="-38114">
              <a:off x="247363" y="748328"/>
              <a:ext cx="277424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6" id="56"/>
            <p:cNvSpPr txBox="true"/>
            <p:nvPr/>
          </p:nvSpPr>
          <p:spPr>
            <a:xfrm rot="2816702">
              <a:off x="331780" y="546650"/>
              <a:ext cx="277424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7" id="57"/>
            <p:cNvSpPr txBox="true"/>
            <p:nvPr/>
          </p:nvSpPr>
          <p:spPr>
            <a:xfrm rot="0">
              <a:off x="1952753" y="737940"/>
              <a:ext cx="179061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7DB1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O</a:t>
              </a:r>
            </a:p>
          </p:txBody>
        </p:sp>
        <p:sp>
          <p:nvSpPr>
            <p:cNvPr name="TextBox 58" id="58"/>
            <p:cNvSpPr txBox="true"/>
            <p:nvPr/>
          </p:nvSpPr>
          <p:spPr>
            <a:xfrm rot="0">
              <a:off x="1952753" y="1289222"/>
              <a:ext cx="179061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59" id="59"/>
            <p:cNvSpPr txBox="true"/>
            <p:nvPr/>
          </p:nvSpPr>
          <p:spPr>
            <a:xfrm rot="0">
              <a:off x="1825110" y="1700696"/>
              <a:ext cx="179061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60" id="60"/>
            <p:cNvSpPr txBox="true"/>
            <p:nvPr/>
          </p:nvSpPr>
          <p:spPr>
            <a:xfrm rot="0">
              <a:off x="0" y="794331"/>
              <a:ext cx="179061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61" id="61"/>
            <p:cNvSpPr txBox="true"/>
            <p:nvPr/>
          </p:nvSpPr>
          <p:spPr>
            <a:xfrm rot="0">
              <a:off x="0" y="1337517"/>
              <a:ext cx="179061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62" id="62"/>
            <p:cNvSpPr txBox="true"/>
            <p:nvPr/>
          </p:nvSpPr>
          <p:spPr>
            <a:xfrm rot="0">
              <a:off x="156300" y="1754894"/>
              <a:ext cx="179061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63" id="63"/>
            <p:cNvSpPr txBox="true"/>
            <p:nvPr/>
          </p:nvSpPr>
          <p:spPr>
            <a:xfrm rot="0">
              <a:off x="179061" y="357399"/>
              <a:ext cx="179061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64" id="64"/>
            <p:cNvSpPr txBox="true"/>
            <p:nvPr/>
          </p:nvSpPr>
          <p:spPr>
            <a:xfrm rot="10740059">
              <a:off x="1614004" y="721290"/>
              <a:ext cx="277424" cy="2398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4"/>
                </a:lnSpc>
              </a:pPr>
              <a:r>
                <a:rPr lang="en-US" b="true" sz="1308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99379" y="5492798"/>
            <a:ext cx="6433135" cy="157330"/>
            <a:chOff x="0" y="0"/>
            <a:chExt cx="8577514" cy="209773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 rot="0">
              <a:off x="54749" y="37792"/>
              <a:ext cx="1804732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atom count verified</a:t>
              </a:r>
            </a:p>
          </p:txBody>
        </p:sp>
        <p:sp>
          <p:nvSpPr>
            <p:cNvPr name="TextBox 68" id="68"/>
            <p:cNvSpPr txBox="true"/>
            <p:nvPr/>
          </p:nvSpPr>
          <p:spPr>
            <a:xfrm rot="0">
              <a:off x="2138716" y="37792"/>
              <a:ext cx="1522716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valence checked</a:t>
              </a:r>
            </a:p>
          </p:txBody>
        </p:sp>
        <p:sp>
          <p:nvSpPr>
            <p:cNvPr name="Freeform 69" id="69"/>
            <p:cNvSpPr/>
            <p:nvPr/>
          </p:nvSpPr>
          <p:spPr>
            <a:xfrm flipH="false" flipV="false" rot="0">
              <a:off x="2028309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 rot="0">
              <a:off x="3882330" y="37792"/>
              <a:ext cx="1850357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bond order checked</a:t>
              </a:r>
            </a:p>
          </p:txBody>
        </p:sp>
        <p:sp>
          <p:nvSpPr>
            <p:cNvPr name="Freeform 71" id="71"/>
            <p:cNvSpPr/>
            <p:nvPr/>
          </p:nvSpPr>
          <p:spPr>
            <a:xfrm flipH="false" flipV="false" rot="0">
              <a:off x="3825680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 rot="0">
              <a:off x="5896935" y="37792"/>
              <a:ext cx="2680579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same connectivity confirmed</a:t>
              </a:r>
            </a:p>
          </p:txBody>
        </p:sp>
        <p:sp>
          <p:nvSpPr>
            <p:cNvPr name="Freeform 73" id="73"/>
            <p:cNvSpPr/>
            <p:nvPr/>
          </p:nvSpPr>
          <p:spPr>
            <a:xfrm flipH="false" flipV="false" rot="0">
              <a:off x="5896935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3" y="0"/>
                  </a:lnTo>
                  <a:lnTo>
                    <a:pt x="220813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91E27">
                <a:alpha val="100000"/>
              </a:srgbClr>
            </a:gs>
            <a:gs pos="100000">
              <a:srgbClr val="48F0E7">
                <a:alpha val="100000"/>
              </a:srgbClr>
            </a:gs>
          </a:gsLst>
          <a:lin ang="189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3253" y="64150"/>
            <a:ext cx="6342869" cy="738200"/>
            <a:chOff x="0" y="0"/>
            <a:chExt cx="2909990" cy="3386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09990" cy="338673"/>
            </a:xfrm>
            <a:custGeom>
              <a:avLst/>
              <a:gdLst/>
              <a:ahLst/>
              <a:cxnLst/>
              <a:rect r="r" b="b" t="t" l="l"/>
              <a:pathLst>
                <a:path h="338673" w="2909990">
                  <a:moveTo>
                    <a:pt x="0" y="0"/>
                  </a:moveTo>
                  <a:lnTo>
                    <a:pt x="2909990" y="0"/>
                  </a:lnTo>
                  <a:lnTo>
                    <a:pt x="2909990" y="338673"/>
                  </a:lnTo>
                  <a:lnTo>
                    <a:pt x="0" y="338673"/>
                  </a:lnTo>
                  <a:close/>
                </a:path>
              </a:pathLst>
            </a:custGeom>
            <a:solidFill>
              <a:srgbClr val="E3EBF2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09990" cy="357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43253" y="5001371"/>
            <a:ext cx="6342869" cy="849504"/>
            <a:chOff x="0" y="0"/>
            <a:chExt cx="2909990" cy="38973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909990" cy="389737"/>
            </a:xfrm>
            <a:custGeom>
              <a:avLst/>
              <a:gdLst/>
              <a:ahLst/>
              <a:cxnLst/>
              <a:rect r="r" b="b" t="t" l="l"/>
              <a:pathLst>
                <a:path h="389737" w="2909990">
                  <a:moveTo>
                    <a:pt x="0" y="0"/>
                  </a:moveTo>
                  <a:lnTo>
                    <a:pt x="2909990" y="0"/>
                  </a:lnTo>
                  <a:lnTo>
                    <a:pt x="2909990" y="389737"/>
                  </a:lnTo>
                  <a:lnTo>
                    <a:pt x="0" y="389737"/>
                  </a:lnTo>
                  <a:close/>
                </a:path>
              </a:pathLst>
            </a:custGeom>
            <a:solidFill>
              <a:srgbClr val="E3EBF2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909990" cy="4087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43253" y="849975"/>
            <a:ext cx="3146387" cy="2023310"/>
            <a:chOff x="0" y="0"/>
            <a:chExt cx="1443504" cy="92825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239735" y="849975"/>
            <a:ext cx="3146387" cy="2023310"/>
            <a:chOff x="0" y="0"/>
            <a:chExt cx="1443504" cy="92825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3253" y="2920911"/>
            <a:ext cx="3146387" cy="2023310"/>
            <a:chOff x="0" y="0"/>
            <a:chExt cx="1443504" cy="92825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239735" y="2920911"/>
            <a:ext cx="3146387" cy="2023310"/>
            <a:chOff x="0" y="0"/>
            <a:chExt cx="1443504" cy="92825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3136875" y="3333915"/>
            <a:ext cx="3292500" cy="1410017"/>
          </a:xfrm>
          <a:custGeom>
            <a:avLst/>
            <a:gdLst/>
            <a:ahLst/>
            <a:cxnLst/>
            <a:rect r="r" b="b" t="t" l="l"/>
            <a:pathLst>
              <a:path h="1410017" w="3292500">
                <a:moveTo>
                  <a:pt x="0" y="0"/>
                </a:moveTo>
                <a:lnTo>
                  <a:pt x="3292500" y="0"/>
                </a:lnTo>
                <a:lnTo>
                  <a:pt x="3292500" y="1410017"/>
                </a:lnTo>
                <a:lnTo>
                  <a:pt x="0" y="141001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38514" y="942961"/>
            <a:ext cx="1827113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1. Molecular Formula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368900" y="942961"/>
            <a:ext cx="1575495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2. Lewis Structure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8514" y="3016161"/>
            <a:ext cx="2955864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3. Condensed Structural Formula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334997" y="3006636"/>
            <a:ext cx="1998141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4. Bond-Line Formula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017812" y="5196760"/>
            <a:ext cx="2393752" cy="229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34"/>
              </a:lnSpc>
            </a:pPr>
            <a:r>
              <a:rPr lang="en-US" sz="1700" b="true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VERIFICATION STRIP 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38514" y="192369"/>
            <a:ext cx="6139498" cy="543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b="true" sz="2000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CARD 08 - ACETAMINOPHEN (PARACETAMOL)</a:t>
            </a:r>
          </a:p>
          <a:p>
            <a:pPr algn="ctr">
              <a:lnSpc>
                <a:spcPts val="2244"/>
              </a:lnSpc>
            </a:pPr>
            <a:r>
              <a:rPr lang="en-US" b="true" sz="2200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C₈H₉NO₂ | N-(4hydroxyphenyl)acetamide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49349" y="1600527"/>
            <a:ext cx="2734195" cy="617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98"/>
              </a:lnSpc>
            </a:pPr>
            <a:r>
              <a:rPr lang="en-US" b="true" sz="4802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C₈H₉NO₂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6018" y="3772065"/>
            <a:ext cx="3040856" cy="345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4"/>
              </a:lnSpc>
            </a:pPr>
            <a:r>
              <a:rPr lang="en-US" sz="2602" b="true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HOC₆H₄NHCOCH₃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3314270" y="1326486"/>
            <a:ext cx="2997317" cy="1350034"/>
            <a:chOff x="0" y="0"/>
            <a:chExt cx="3996423" cy="1800045"/>
          </a:xfrm>
        </p:grpSpPr>
        <p:sp>
          <p:nvSpPr>
            <p:cNvPr name="TextBox 30" id="30"/>
            <p:cNvSpPr txBox="true"/>
            <p:nvPr/>
          </p:nvSpPr>
          <p:spPr>
            <a:xfrm rot="0">
              <a:off x="1049359" y="378308"/>
              <a:ext cx="698962" cy="2298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sz="1193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  <a:r>
                <a:rPr lang="en-US" sz="1193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— </a:t>
              </a:r>
              <a:r>
                <a:rPr lang="en-US" sz="1193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1097343" y="1140071"/>
              <a:ext cx="698962" cy="2298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sz="1193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  <a:r>
                <a:rPr lang="en-US" sz="1193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— </a:t>
              </a:r>
              <a:r>
                <a:rPr lang="en-US" sz="1193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1854937" y="766020"/>
              <a:ext cx="234201" cy="22741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217"/>
                </a:lnSpc>
              </a:pPr>
              <a:r>
                <a:rPr lang="en-US" sz="1193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-7124377">
              <a:off x="1673943" y="547955"/>
              <a:ext cx="25307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-3648770">
              <a:off x="902707" y="552238"/>
              <a:ext cx="25307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825310" y="786323"/>
              <a:ext cx="234201" cy="22741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217"/>
                </a:lnSpc>
              </a:pPr>
              <a:r>
                <a:rPr lang="en-US" sz="1193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-7637224">
              <a:off x="920485" y="988821"/>
              <a:ext cx="25307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-3648770">
              <a:off x="1725698" y="969571"/>
              <a:ext cx="25307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2816702">
              <a:off x="862156" y="183412"/>
              <a:ext cx="25307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9" id="39"/>
            <p:cNvSpPr txBox="true"/>
            <p:nvPr/>
          </p:nvSpPr>
          <p:spPr>
            <a:xfrm rot="0">
              <a:off x="719971" y="9525"/>
              <a:ext cx="16334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0" id="40"/>
            <p:cNvSpPr txBox="true"/>
            <p:nvPr/>
          </p:nvSpPr>
          <p:spPr>
            <a:xfrm rot="7909400">
              <a:off x="1675337" y="197326"/>
              <a:ext cx="25307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1" id="41"/>
            <p:cNvSpPr txBox="true"/>
            <p:nvPr/>
          </p:nvSpPr>
          <p:spPr>
            <a:xfrm rot="0">
              <a:off x="1878918" y="9525"/>
              <a:ext cx="16334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2" id="42"/>
            <p:cNvSpPr txBox="true"/>
            <p:nvPr/>
          </p:nvSpPr>
          <p:spPr>
            <a:xfrm rot="10740059">
              <a:off x="1320203" y="1118207"/>
              <a:ext cx="25307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3" id="43"/>
            <p:cNvSpPr txBox="true"/>
            <p:nvPr/>
          </p:nvSpPr>
          <p:spPr>
            <a:xfrm rot="-3648770">
              <a:off x="937131" y="572913"/>
              <a:ext cx="25307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-7124377">
              <a:off x="1707387" y="528836"/>
              <a:ext cx="25307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5" id="45"/>
            <p:cNvSpPr txBox="true"/>
            <p:nvPr/>
          </p:nvSpPr>
          <p:spPr>
            <a:xfrm rot="0">
              <a:off x="255890" y="787081"/>
              <a:ext cx="569420" cy="23005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sz="1193" b="true">
                  <a:solidFill>
                    <a:srgbClr val="7DB1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O</a:t>
              </a:r>
              <a:r>
                <a:rPr lang="en-US" sz="1193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—</a:t>
              </a:r>
            </a:p>
          </p:txBody>
        </p:sp>
        <p:sp>
          <p:nvSpPr>
            <p:cNvPr name="TextBox 46" id="46"/>
            <p:cNvSpPr txBox="true"/>
            <p:nvPr/>
          </p:nvSpPr>
          <p:spPr>
            <a:xfrm rot="7909400">
              <a:off x="99037" y="951808"/>
              <a:ext cx="25307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0">
              <a:off x="0" y="1168685"/>
              <a:ext cx="16334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8" id="48"/>
            <p:cNvSpPr txBox="true"/>
            <p:nvPr/>
          </p:nvSpPr>
          <p:spPr>
            <a:xfrm rot="7909400">
              <a:off x="937001" y="1333790"/>
              <a:ext cx="25307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9" id="49"/>
            <p:cNvSpPr txBox="true"/>
            <p:nvPr/>
          </p:nvSpPr>
          <p:spPr>
            <a:xfrm rot="0">
              <a:off x="790949" y="1504620"/>
              <a:ext cx="16334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50" id="50"/>
            <p:cNvSpPr txBox="true"/>
            <p:nvPr/>
          </p:nvSpPr>
          <p:spPr>
            <a:xfrm rot="2816702">
              <a:off x="1739570" y="1299302"/>
              <a:ext cx="25307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1" id="51"/>
            <p:cNvSpPr txBox="true"/>
            <p:nvPr/>
          </p:nvSpPr>
          <p:spPr>
            <a:xfrm rot="0">
              <a:off x="1960692" y="1501800"/>
              <a:ext cx="16334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1141126">
              <a:off x="385658" y="621608"/>
              <a:ext cx="182557" cy="2298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 spc="-11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 .</a:t>
              </a:r>
            </a:p>
          </p:txBody>
        </p:sp>
        <p:sp>
          <p:nvSpPr>
            <p:cNvPr name="TextBox 53" id="53"/>
            <p:cNvSpPr txBox="true"/>
            <p:nvPr/>
          </p:nvSpPr>
          <p:spPr>
            <a:xfrm rot="0">
              <a:off x="2021960" y="743413"/>
              <a:ext cx="569420" cy="2298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sz="1193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 </a:t>
              </a:r>
              <a:r>
                <a:rPr lang="en-US" sz="1193" b="true">
                  <a:solidFill>
                    <a:srgbClr val="777FC5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N</a:t>
              </a:r>
            </a:p>
          </p:txBody>
        </p:sp>
        <p:sp>
          <p:nvSpPr>
            <p:cNvPr name="TextBox 54" id="54"/>
            <p:cNvSpPr txBox="true"/>
            <p:nvPr/>
          </p:nvSpPr>
          <p:spPr>
            <a:xfrm rot="7909400">
              <a:off x="2496890" y="551908"/>
              <a:ext cx="25307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5" id="55"/>
            <p:cNvSpPr txBox="true"/>
            <p:nvPr/>
          </p:nvSpPr>
          <p:spPr>
            <a:xfrm rot="0">
              <a:off x="2700472" y="364107"/>
              <a:ext cx="16334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56" id="56"/>
            <p:cNvSpPr txBox="true"/>
            <p:nvPr/>
          </p:nvSpPr>
          <p:spPr>
            <a:xfrm rot="-2700000">
              <a:off x="2526089" y="1539282"/>
              <a:ext cx="182557" cy="2298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 spc="-11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 .</a:t>
              </a:r>
            </a:p>
          </p:txBody>
        </p:sp>
        <p:sp>
          <p:nvSpPr>
            <p:cNvPr name="TextBox 57" id="57"/>
            <p:cNvSpPr txBox="true"/>
            <p:nvPr/>
          </p:nvSpPr>
          <p:spPr>
            <a:xfrm rot="0">
              <a:off x="2679316" y="1090102"/>
              <a:ext cx="349082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 </a:t>
              </a:r>
            </a:p>
          </p:txBody>
        </p:sp>
        <p:sp>
          <p:nvSpPr>
            <p:cNvPr name="TextBox 58" id="58"/>
            <p:cNvSpPr txBox="true"/>
            <p:nvPr/>
          </p:nvSpPr>
          <p:spPr>
            <a:xfrm rot="-7637224">
              <a:off x="2502458" y="930966"/>
              <a:ext cx="25307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9" id="59"/>
            <p:cNvSpPr txBox="true"/>
            <p:nvPr/>
          </p:nvSpPr>
          <p:spPr>
            <a:xfrm rot="-3648770">
              <a:off x="2542208" y="1266958"/>
              <a:ext cx="25307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60" id="60"/>
            <p:cNvSpPr txBox="true"/>
            <p:nvPr/>
          </p:nvSpPr>
          <p:spPr>
            <a:xfrm rot="0">
              <a:off x="2464811" y="1501042"/>
              <a:ext cx="234201" cy="22741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217"/>
                </a:lnSpc>
              </a:pPr>
              <a:r>
                <a:rPr lang="en-US" sz="1193" b="true">
                  <a:solidFill>
                    <a:srgbClr val="7DB1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O</a:t>
              </a:r>
            </a:p>
          </p:txBody>
        </p:sp>
        <p:sp>
          <p:nvSpPr>
            <p:cNvPr name="TextBox 61" id="61"/>
            <p:cNvSpPr txBox="true"/>
            <p:nvPr/>
          </p:nvSpPr>
          <p:spPr>
            <a:xfrm rot="-3648770">
              <a:off x="2576633" y="1287632"/>
              <a:ext cx="25307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62" id="62"/>
            <p:cNvSpPr txBox="true"/>
            <p:nvPr/>
          </p:nvSpPr>
          <p:spPr>
            <a:xfrm rot="0">
              <a:off x="2884120" y="1077837"/>
              <a:ext cx="569420" cy="2298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sz="1193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 </a:t>
              </a:r>
              <a:r>
                <a:rPr lang="en-US" sz="1193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63" id="63"/>
            <p:cNvSpPr txBox="true"/>
            <p:nvPr/>
          </p:nvSpPr>
          <p:spPr>
            <a:xfrm rot="7909400">
              <a:off x="3354938" y="909120"/>
              <a:ext cx="25307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64" id="64"/>
            <p:cNvSpPr txBox="true"/>
            <p:nvPr/>
          </p:nvSpPr>
          <p:spPr>
            <a:xfrm rot="0">
              <a:off x="3558519" y="721319"/>
              <a:ext cx="16334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65" id="65"/>
            <p:cNvSpPr txBox="true"/>
            <p:nvPr/>
          </p:nvSpPr>
          <p:spPr>
            <a:xfrm rot="2816702">
              <a:off x="3387615" y="1261673"/>
              <a:ext cx="25307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66" id="66"/>
            <p:cNvSpPr txBox="true"/>
            <p:nvPr/>
          </p:nvSpPr>
          <p:spPr>
            <a:xfrm rot="0">
              <a:off x="3608737" y="1464171"/>
              <a:ext cx="163345" cy="226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67" id="67"/>
            <p:cNvSpPr txBox="true"/>
            <p:nvPr/>
          </p:nvSpPr>
          <p:spPr>
            <a:xfrm rot="0">
              <a:off x="3427003" y="1077837"/>
              <a:ext cx="569420" cy="2298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sz="1193" b="true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 </a:t>
              </a:r>
              <a:r>
                <a:rPr lang="en-US" sz="1193" b="true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68" id="68"/>
            <p:cNvSpPr txBox="true"/>
            <p:nvPr/>
          </p:nvSpPr>
          <p:spPr>
            <a:xfrm rot="-4109639">
              <a:off x="155950" y="718107"/>
              <a:ext cx="182557" cy="2298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 spc="-11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 .</a:t>
              </a:r>
            </a:p>
          </p:txBody>
        </p:sp>
        <p:sp>
          <p:nvSpPr>
            <p:cNvPr name="TextBox 69" id="69"/>
            <p:cNvSpPr txBox="true"/>
            <p:nvPr/>
          </p:nvSpPr>
          <p:spPr>
            <a:xfrm rot="-2700000">
              <a:off x="2217122" y="572344"/>
              <a:ext cx="182557" cy="2298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 spc="-11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 .</a:t>
              </a:r>
            </a:p>
          </p:txBody>
        </p:sp>
        <p:sp>
          <p:nvSpPr>
            <p:cNvPr name="TextBox 70" id="70"/>
            <p:cNvSpPr txBox="true"/>
            <p:nvPr/>
          </p:nvSpPr>
          <p:spPr>
            <a:xfrm rot="-2700000">
              <a:off x="2336192" y="1372726"/>
              <a:ext cx="182557" cy="2298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17"/>
                </a:lnSpc>
              </a:pPr>
              <a:r>
                <a:rPr lang="en-US" b="true" sz="1193" spc="-113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 .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99379" y="5492798"/>
            <a:ext cx="6433135" cy="157330"/>
            <a:chOff x="0" y="0"/>
            <a:chExt cx="8577514" cy="209773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 rot="0">
              <a:off x="54749" y="37792"/>
              <a:ext cx="1804732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atom count verified</a:t>
              </a:r>
            </a:p>
          </p:txBody>
        </p:sp>
        <p:sp>
          <p:nvSpPr>
            <p:cNvPr name="TextBox 74" id="74"/>
            <p:cNvSpPr txBox="true"/>
            <p:nvPr/>
          </p:nvSpPr>
          <p:spPr>
            <a:xfrm rot="0">
              <a:off x="2138716" y="37792"/>
              <a:ext cx="1522716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valence checked</a:t>
              </a:r>
            </a:p>
          </p:txBody>
        </p:sp>
        <p:sp>
          <p:nvSpPr>
            <p:cNvPr name="Freeform 75" id="75"/>
            <p:cNvSpPr/>
            <p:nvPr/>
          </p:nvSpPr>
          <p:spPr>
            <a:xfrm flipH="false" flipV="false" rot="0">
              <a:off x="2028309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 rot="0">
              <a:off x="3882330" y="37792"/>
              <a:ext cx="1850357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bond order checked</a:t>
              </a:r>
            </a:p>
          </p:txBody>
        </p:sp>
        <p:sp>
          <p:nvSpPr>
            <p:cNvPr name="Freeform 77" id="77"/>
            <p:cNvSpPr/>
            <p:nvPr/>
          </p:nvSpPr>
          <p:spPr>
            <a:xfrm flipH="false" flipV="false" rot="0">
              <a:off x="3825680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 rot="0">
              <a:off x="5896935" y="37792"/>
              <a:ext cx="2680579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same connectivity confirmed</a:t>
              </a:r>
            </a:p>
          </p:txBody>
        </p:sp>
        <p:sp>
          <p:nvSpPr>
            <p:cNvPr name="Freeform 79" id="79"/>
            <p:cNvSpPr/>
            <p:nvPr/>
          </p:nvSpPr>
          <p:spPr>
            <a:xfrm flipH="false" flipV="false" rot="0">
              <a:off x="5896935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3" y="0"/>
                  </a:lnTo>
                  <a:lnTo>
                    <a:pt x="220813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91E27">
                <a:alpha val="100000"/>
              </a:srgbClr>
            </a:gs>
            <a:gs pos="100000">
              <a:srgbClr val="48F0E7">
                <a:alpha val="100000"/>
              </a:srgbClr>
            </a:gs>
          </a:gsLst>
          <a:lin ang="189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3253" y="64150"/>
            <a:ext cx="6342869" cy="738200"/>
            <a:chOff x="0" y="0"/>
            <a:chExt cx="2909990" cy="3386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09990" cy="338673"/>
            </a:xfrm>
            <a:custGeom>
              <a:avLst/>
              <a:gdLst/>
              <a:ahLst/>
              <a:cxnLst/>
              <a:rect r="r" b="b" t="t" l="l"/>
              <a:pathLst>
                <a:path h="338673" w="2909990">
                  <a:moveTo>
                    <a:pt x="0" y="0"/>
                  </a:moveTo>
                  <a:lnTo>
                    <a:pt x="2909990" y="0"/>
                  </a:lnTo>
                  <a:lnTo>
                    <a:pt x="2909990" y="338673"/>
                  </a:lnTo>
                  <a:lnTo>
                    <a:pt x="0" y="338673"/>
                  </a:lnTo>
                  <a:close/>
                </a:path>
              </a:pathLst>
            </a:custGeom>
            <a:solidFill>
              <a:srgbClr val="E3EBF2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09990" cy="357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43253" y="5001371"/>
            <a:ext cx="6342869" cy="849504"/>
            <a:chOff x="0" y="0"/>
            <a:chExt cx="2909990" cy="38973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909990" cy="389737"/>
            </a:xfrm>
            <a:custGeom>
              <a:avLst/>
              <a:gdLst/>
              <a:ahLst/>
              <a:cxnLst/>
              <a:rect r="r" b="b" t="t" l="l"/>
              <a:pathLst>
                <a:path h="389737" w="2909990">
                  <a:moveTo>
                    <a:pt x="0" y="0"/>
                  </a:moveTo>
                  <a:lnTo>
                    <a:pt x="2909990" y="0"/>
                  </a:lnTo>
                  <a:lnTo>
                    <a:pt x="2909990" y="389737"/>
                  </a:lnTo>
                  <a:lnTo>
                    <a:pt x="0" y="389737"/>
                  </a:lnTo>
                  <a:close/>
                </a:path>
              </a:pathLst>
            </a:custGeom>
            <a:solidFill>
              <a:srgbClr val="E3EBF2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909990" cy="4087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43253" y="849975"/>
            <a:ext cx="3146387" cy="2023310"/>
            <a:chOff x="0" y="0"/>
            <a:chExt cx="1443504" cy="92825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239735" y="849975"/>
            <a:ext cx="3146387" cy="2023310"/>
            <a:chOff x="0" y="0"/>
            <a:chExt cx="1443504" cy="92825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3253" y="2920911"/>
            <a:ext cx="3146387" cy="2023310"/>
            <a:chOff x="0" y="0"/>
            <a:chExt cx="1443504" cy="92825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239735" y="2920911"/>
            <a:ext cx="3146387" cy="2023310"/>
            <a:chOff x="0" y="0"/>
            <a:chExt cx="1443504" cy="92825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3514884" y="3018605"/>
            <a:ext cx="2596089" cy="2004260"/>
          </a:xfrm>
          <a:custGeom>
            <a:avLst/>
            <a:gdLst/>
            <a:ahLst/>
            <a:cxnLst/>
            <a:rect r="r" b="b" t="t" l="l"/>
            <a:pathLst>
              <a:path h="2004260" w="2596089">
                <a:moveTo>
                  <a:pt x="0" y="0"/>
                </a:moveTo>
                <a:lnTo>
                  <a:pt x="2596089" y="0"/>
                </a:lnTo>
                <a:lnTo>
                  <a:pt x="2596089" y="2004260"/>
                </a:lnTo>
                <a:lnTo>
                  <a:pt x="0" y="20042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38514" y="942961"/>
            <a:ext cx="1827113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1. Molecular Formula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368900" y="942961"/>
            <a:ext cx="1575495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2. Lewis Structure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8514" y="3016161"/>
            <a:ext cx="2955864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3. Condensed Structural Formula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334997" y="3006636"/>
            <a:ext cx="1998141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4. Bond-Line Formula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017812" y="5196760"/>
            <a:ext cx="2393752" cy="229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34"/>
              </a:lnSpc>
            </a:pPr>
            <a:r>
              <a:rPr lang="en-US" sz="1700" b="true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VERIFICATION STRIP 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21774" y="180647"/>
            <a:ext cx="5985828" cy="543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b="true" sz="2000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CARD 09 - ASPIRIN (ACETYLSALICYLIC ACID) </a:t>
            </a:r>
          </a:p>
          <a:p>
            <a:pPr algn="ctr">
              <a:lnSpc>
                <a:spcPts val="2244"/>
              </a:lnSpc>
            </a:pPr>
            <a:r>
              <a:rPr lang="en-US" b="true" sz="2200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C₉H₈O₄ | 2-Acetoxybenzoic Acid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95806" y="1600527"/>
            <a:ext cx="2241282" cy="617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98"/>
              </a:lnSpc>
            </a:pPr>
            <a:r>
              <a:rPr lang="en-US" b="true" sz="4802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C₉H₈O₄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2347" y="3791115"/>
            <a:ext cx="3048199" cy="3120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0"/>
              </a:lnSpc>
            </a:pPr>
            <a:r>
              <a:rPr lang="en-US" sz="2402" b="true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CH₃COOC₆H₄COOH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3957338" y="1136891"/>
            <a:ext cx="1805287" cy="1698295"/>
            <a:chOff x="0" y="0"/>
            <a:chExt cx="2407049" cy="2264393"/>
          </a:xfrm>
        </p:grpSpPr>
        <p:sp>
          <p:nvSpPr>
            <p:cNvPr name="TextBox 30" id="30"/>
            <p:cNvSpPr txBox="true"/>
            <p:nvPr/>
          </p:nvSpPr>
          <p:spPr>
            <a:xfrm rot="0">
              <a:off x="636422" y="968882"/>
              <a:ext cx="184820" cy="1650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960"/>
                </a:lnSpc>
              </a:pPr>
              <a:r>
                <a:rPr lang="en-US" sz="941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345669" y="1155863"/>
              <a:ext cx="184820" cy="1650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960"/>
                </a:lnSpc>
              </a:pPr>
              <a:r>
                <a:rPr lang="en-US" sz="941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925386" y="1155863"/>
              <a:ext cx="184820" cy="1650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960"/>
                </a:lnSpc>
              </a:pPr>
              <a:r>
                <a:rPr lang="en-US" sz="941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-5400000">
              <a:off x="306910" y="1339984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0">
              <a:off x="342626" y="1542558"/>
              <a:ext cx="128904" cy="1650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sz="941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-5400000">
              <a:off x="886141" y="1339984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928480" y="1542558"/>
              <a:ext cx="12890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652444" y="1728941"/>
              <a:ext cx="184820" cy="16793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960"/>
                </a:lnSpc>
              </a:pPr>
              <a:r>
                <a:rPr lang="en-US" sz="941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-1687261">
              <a:off x="435121" y="1019909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9" id="39"/>
            <p:cNvSpPr txBox="true"/>
            <p:nvPr/>
          </p:nvSpPr>
          <p:spPr>
            <a:xfrm rot="-9107212">
              <a:off x="765528" y="1008917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0" id="40"/>
            <p:cNvSpPr txBox="true"/>
            <p:nvPr/>
          </p:nvSpPr>
          <p:spPr>
            <a:xfrm rot="-1687261">
              <a:off x="787913" y="1673633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1" id="41"/>
            <p:cNvSpPr txBox="true"/>
            <p:nvPr/>
          </p:nvSpPr>
          <p:spPr>
            <a:xfrm rot="-9107212">
              <a:off x="443774" y="1656909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2" id="42"/>
            <p:cNvSpPr txBox="true"/>
            <p:nvPr/>
          </p:nvSpPr>
          <p:spPr>
            <a:xfrm rot="-5400000">
              <a:off x="625069" y="1894487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3" id="43"/>
            <p:cNvSpPr txBox="true"/>
            <p:nvPr/>
          </p:nvSpPr>
          <p:spPr>
            <a:xfrm rot="0">
              <a:off x="662483" y="2097060"/>
              <a:ext cx="12890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0">
              <a:off x="1231138" y="1822730"/>
              <a:ext cx="12890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5" id="45"/>
            <p:cNvSpPr txBox="true"/>
            <p:nvPr/>
          </p:nvSpPr>
          <p:spPr>
            <a:xfrm rot="0">
              <a:off x="37024" y="1744955"/>
              <a:ext cx="12890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6" id="46"/>
            <p:cNvSpPr txBox="true"/>
            <p:nvPr/>
          </p:nvSpPr>
          <p:spPr>
            <a:xfrm rot="0">
              <a:off x="0" y="990698"/>
              <a:ext cx="12890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-9107212">
              <a:off x="1051971" y="1673194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8" id="48"/>
            <p:cNvSpPr txBox="true"/>
            <p:nvPr/>
          </p:nvSpPr>
          <p:spPr>
            <a:xfrm rot="-9107212">
              <a:off x="138172" y="1032762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9" id="49"/>
            <p:cNvSpPr txBox="true"/>
            <p:nvPr/>
          </p:nvSpPr>
          <p:spPr>
            <a:xfrm rot="-1687261">
              <a:off x="165529" y="1650640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0" id="50"/>
            <p:cNvSpPr txBox="true"/>
            <p:nvPr/>
          </p:nvSpPr>
          <p:spPr>
            <a:xfrm rot="-1687261">
              <a:off x="460978" y="1049556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1" id="51"/>
            <p:cNvSpPr txBox="true"/>
            <p:nvPr/>
          </p:nvSpPr>
          <p:spPr>
            <a:xfrm rot="-5400000">
              <a:off x="924943" y="1341306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-9107212">
              <a:off x="460936" y="1624632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3" id="53"/>
            <p:cNvSpPr txBox="true"/>
            <p:nvPr/>
          </p:nvSpPr>
          <p:spPr>
            <a:xfrm rot="-5400000">
              <a:off x="598008" y="766309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4" id="54"/>
            <p:cNvSpPr txBox="true"/>
            <p:nvPr/>
          </p:nvSpPr>
          <p:spPr>
            <a:xfrm rot="0">
              <a:off x="643667" y="601899"/>
              <a:ext cx="184820" cy="1650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960"/>
                </a:lnSpc>
              </a:pPr>
              <a:r>
                <a:rPr lang="en-US" sz="941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55" id="55"/>
            <p:cNvSpPr txBox="true"/>
            <p:nvPr/>
          </p:nvSpPr>
          <p:spPr>
            <a:xfrm rot="0">
              <a:off x="334043" y="396004"/>
              <a:ext cx="128904" cy="1650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7DB1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O</a:t>
              </a:r>
            </a:p>
          </p:txBody>
        </p:sp>
        <p:sp>
          <p:nvSpPr>
            <p:cNvPr name="TextBox 56" id="56"/>
            <p:cNvSpPr txBox="true"/>
            <p:nvPr/>
          </p:nvSpPr>
          <p:spPr>
            <a:xfrm rot="-9107212">
              <a:off x="446817" y="501304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7" id="57"/>
            <p:cNvSpPr txBox="true"/>
            <p:nvPr/>
          </p:nvSpPr>
          <p:spPr>
            <a:xfrm rot="-9107212">
              <a:off x="463979" y="469027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8" id="58"/>
            <p:cNvSpPr txBox="true"/>
            <p:nvPr/>
          </p:nvSpPr>
          <p:spPr>
            <a:xfrm rot="-1687261">
              <a:off x="765570" y="485891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9" id="59"/>
            <p:cNvSpPr txBox="true"/>
            <p:nvPr/>
          </p:nvSpPr>
          <p:spPr>
            <a:xfrm rot="0">
              <a:off x="950823" y="391020"/>
              <a:ext cx="128904" cy="1650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7DB1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O</a:t>
              </a:r>
            </a:p>
          </p:txBody>
        </p:sp>
        <p:sp>
          <p:nvSpPr>
            <p:cNvPr name="TextBox 60" id="60"/>
            <p:cNvSpPr txBox="true"/>
            <p:nvPr/>
          </p:nvSpPr>
          <p:spPr>
            <a:xfrm rot="-5400000">
              <a:off x="911742" y="193431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61" id="61"/>
            <p:cNvSpPr txBox="true"/>
            <p:nvPr/>
          </p:nvSpPr>
          <p:spPr>
            <a:xfrm rot="0">
              <a:off x="950823" y="19050"/>
              <a:ext cx="12890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62" id="62"/>
            <p:cNvSpPr txBox="true"/>
            <p:nvPr/>
          </p:nvSpPr>
          <p:spPr>
            <a:xfrm rot="-1687261">
              <a:off x="1038700" y="1003824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63" id="63"/>
            <p:cNvSpPr txBox="true"/>
            <p:nvPr/>
          </p:nvSpPr>
          <p:spPr>
            <a:xfrm rot="0">
              <a:off x="1248924" y="968882"/>
              <a:ext cx="128904" cy="1650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7DB1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O</a:t>
              </a:r>
            </a:p>
          </p:txBody>
        </p:sp>
        <p:sp>
          <p:nvSpPr>
            <p:cNvPr name="TextBox 64" id="64"/>
            <p:cNvSpPr txBox="true"/>
            <p:nvPr/>
          </p:nvSpPr>
          <p:spPr>
            <a:xfrm rot="-9107212">
              <a:off x="1403326" y="987100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65" id="65"/>
            <p:cNvSpPr txBox="true"/>
            <p:nvPr/>
          </p:nvSpPr>
          <p:spPr>
            <a:xfrm rot="0">
              <a:off x="1578964" y="1135330"/>
              <a:ext cx="184820" cy="1650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960"/>
                </a:lnSpc>
              </a:pPr>
              <a:r>
                <a:rPr lang="en-US" sz="941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66" id="66"/>
            <p:cNvSpPr txBox="true"/>
            <p:nvPr/>
          </p:nvSpPr>
          <p:spPr>
            <a:xfrm rot="-5400000">
              <a:off x="1529084" y="1316602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67" id="67"/>
            <p:cNvSpPr txBox="true"/>
            <p:nvPr/>
          </p:nvSpPr>
          <p:spPr>
            <a:xfrm rot="0">
              <a:off x="1571423" y="1519176"/>
              <a:ext cx="12890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7DB1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O</a:t>
              </a:r>
            </a:p>
          </p:txBody>
        </p:sp>
        <p:sp>
          <p:nvSpPr>
            <p:cNvPr name="TextBox 68" id="68"/>
            <p:cNvSpPr txBox="true"/>
            <p:nvPr/>
          </p:nvSpPr>
          <p:spPr>
            <a:xfrm rot="-5400000">
              <a:off x="1567886" y="1317924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69" id="69"/>
            <p:cNvSpPr txBox="true"/>
            <p:nvPr/>
          </p:nvSpPr>
          <p:spPr>
            <a:xfrm rot="-1687261">
              <a:off x="1694844" y="989574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70" id="70"/>
            <p:cNvSpPr txBox="true"/>
            <p:nvPr/>
          </p:nvSpPr>
          <p:spPr>
            <a:xfrm rot="0">
              <a:off x="1904455" y="959740"/>
              <a:ext cx="184820" cy="1650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960"/>
                </a:lnSpc>
              </a:pPr>
              <a:r>
                <a:rPr lang="en-US" sz="941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71" id="71"/>
            <p:cNvSpPr txBox="true"/>
            <p:nvPr/>
          </p:nvSpPr>
          <p:spPr>
            <a:xfrm rot="-3984889">
              <a:off x="1920955" y="777297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72" id="72"/>
            <p:cNvSpPr txBox="true"/>
            <p:nvPr/>
          </p:nvSpPr>
          <p:spPr>
            <a:xfrm rot="-8382391">
              <a:off x="1995578" y="1073821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73" id="73"/>
            <p:cNvSpPr txBox="true"/>
            <p:nvPr/>
          </p:nvSpPr>
          <p:spPr>
            <a:xfrm rot="10195666">
              <a:off x="2052864" y="914016"/>
              <a:ext cx="19971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74" id="74"/>
            <p:cNvSpPr txBox="true"/>
            <p:nvPr/>
          </p:nvSpPr>
          <p:spPr>
            <a:xfrm rot="0">
              <a:off x="2042109" y="599648"/>
              <a:ext cx="12890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75" id="75"/>
            <p:cNvSpPr txBox="true"/>
            <p:nvPr/>
          </p:nvSpPr>
          <p:spPr>
            <a:xfrm rot="0">
              <a:off x="2184343" y="1234257"/>
              <a:ext cx="12890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76" id="76"/>
            <p:cNvSpPr txBox="true"/>
            <p:nvPr/>
          </p:nvSpPr>
          <p:spPr>
            <a:xfrm rot="0">
              <a:off x="2278146" y="891776"/>
              <a:ext cx="128904" cy="167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60"/>
                </a:lnSpc>
              </a:pPr>
              <a:r>
                <a:rPr lang="en-US" b="true" sz="941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77" id="77"/>
            <p:cNvSpPr txBox="true"/>
            <p:nvPr/>
          </p:nvSpPr>
          <p:spPr>
            <a:xfrm rot="1141126">
              <a:off x="371049" y="258679"/>
              <a:ext cx="131421" cy="1532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76"/>
                </a:lnSpc>
              </a:pPr>
              <a:r>
                <a:rPr lang="en-US" b="true" sz="859" spc="-8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 .</a:t>
              </a:r>
            </a:p>
          </p:txBody>
        </p:sp>
        <p:sp>
          <p:nvSpPr>
            <p:cNvPr name="TextBox 78" id="78"/>
            <p:cNvSpPr txBox="true"/>
            <p:nvPr/>
          </p:nvSpPr>
          <p:spPr>
            <a:xfrm rot="-4109639">
              <a:off x="213344" y="324619"/>
              <a:ext cx="131421" cy="1532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76"/>
                </a:lnSpc>
              </a:pPr>
              <a:r>
                <a:rPr lang="en-US" b="true" sz="859" spc="-8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 .</a:t>
              </a:r>
            </a:p>
          </p:txBody>
        </p:sp>
        <p:sp>
          <p:nvSpPr>
            <p:cNvPr name="TextBox 79" id="79"/>
            <p:cNvSpPr txBox="true"/>
            <p:nvPr/>
          </p:nvSpPr>
          <p:spPr>
            <a:xfrm rot="-2700000">
              <a:off x="1002308" y="416050"/>
              <a:ext cx="131421" cy="1532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76"/>
                </a:lnSpc>
              </a:pPr>
              <a:r>
                <a:rPr lang="en-US" b="true" sz="859" spc="-8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 .</a:t>
              </a:r>
            </a:p>
          </p:txBody>
        </p:sp>
        <p:sp>
          <p:nvSpPr>
            <p:cNvPr name="TextBox 80" id="80"/>
            <p:cNvSpPr txBox="true"/>
            <p:nvPr/>
          </p:nvSpPr>
          <p:spPr>
            <a:xfrm rot="-2700000">
              <a:off x="865604" y="296149"/>
              <a:ext cx="131421" cy="1532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76"/>
                </a:lnSpc>
              </a:pPr>
              <a:r>
                <a:rPr lang="en-US" b="true" sz="859" spc="-8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 .</a:t>
              </a:r>
            </a:p>
          </p:txBody>
        </p:sp>
        <p:sp>
          <p:nvSpPr>
            <p:cNvPr name="TextBox 81" id="81"/>
            <p:cNvSpPr txBox="true"/>
            <p:nvPr/>
          </p:nvSpPr>
          <p:spPr>
            <a:xfrm rot="-341331">
              <a:off x="1261804" y="1018011"/>
              <a:ext cx="131421" cy="1532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76"/>
                </a:lnSpc>
              </a:pPr>
              <a:r>
                <a:rPr lang="en-US" b="true" sz="859" spc="-8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 .</a:t>
              </a:r>
            </a:p>
          </p:txBody>
        </p:sp>
        <p:sp>
          <p:nvSpPr>
            <p:cNvPr name="TextBox 82" id="82"/>
            <p:cNvSpPr txBox="true"/>
            <p:nvPr/>
          </p:nvSpPr>
          <p:spPr>
            <a:xfrm rot="-341331">
              <a:off x="1231996" y="838635"/>
              <a:ext cx="131421" cy="1532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76"/>
                </a:lnSpc>
              </a:pPr>
              <a:r>
                <a:rPr lang="en-US" b="true" sz="859" spc="-8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 .</a:t>
              </a:r>
            </a:p>
          </p:txBody>
        </p:sp>
        <p:sp>
          <p:nvSpPr>
            <p:cNvPr name="TextBox 83" id="83"/>
            <p:cNvSpPr txBox="true"/>
            <p:nvPr/>
          </p:nvSpPr>
          <p:spPr>
            <a:xfrm rot="-9658873">
              <a:off x="1526279" y="1631502"/>
              <a:ext cx="131421" cy="1532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76"/>
                </a:lnSpc>
              </a:pPr>
              <a:r>
                <a:rPr lang="en-US" b="true" sz="859" spc="-8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 .</a:t>
              </a:r>
            </a:p>
          </p:txBody>
        </p:sp>
        <p:sp>
          <p:nvSpPr>
            <p:cNvPr name="TextBox 84" id="84"/>
            <p:cNvSpPr txBox="true"/>
            <p:nvPr/>
          </p:nvSpPr>
          <p:spPr>
            <a:xfrm rot="6690360">
              <a:off x="1683985" y="1565562"/>
              <a:ext cx="131421" cy="1532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76"/>
                </a:lnSpc>
              </a:pPr>
              <a:r>
                <a:rPr lang="en-US" b="true" sz="859" spc="-81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 .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99379" y="5492798"/>
            <a:ext cx="6433135" cy="157330"/>
            <a:chOff x="0" y="0"/>
            <a:chExt cx="8577514" cy="209773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 rot="0">
              <a:off x="54749" y="37792"/>
              <a:ext cx="1804732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atom count verified</a:t>
              </a:r>
            </a:p>
          </p:txBody>
        </p:sp>
        <p:sp>
          <p:nvSpPr>
            <p:cNvPr name="TextBox 88" id="88"/>
            <p:cNvSpPr txBox="true"/>
            <p:nvPr/>
          </p:nvSpPr>
          <p:spPr>
            <a:xfrm rot="0">
              <a:off x="2138716" y="37792"/>
              <a:ext cx="1522716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valence checked</a:t>
              </a:r>
            </a:p>
          </p:txBody>
        </p:sp>
        <p:sp>
          <p:nvSpPr>
            <p:cNvPr name="Freeform 89" id="89"/>
            <p:cNvSpPr/>
            <p:nvPr/>
          </p:nvSpPr>
          <p:spPr>
            <a:xfrm flipH="false" flipV="false" rot="0">
              <a:off x="2028309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 rot="0">
              <a:off x="3882330" y="37792"/>
              <a:ext cx="1850357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bond order checked</a:t>
              </a:r>
            </a:p>
          </p:txBody>
        </p:sp>
        <p:sp>
          <p:nvSpPr>
            <p:cNvPr name="Freeform 91" id="91"/>
            <p:cNvSpPr/>
            <p:nvPr/>
          </p:nvSpPr>
          <p:spPr>
            <a:xfrm flipH="false" flipV="false" rot="0">
              <a:off x="3825680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92" id="92"/>
            <p:cNvSpPr txBox="true"/>
            <p:nvPr/>
          </p:nvSpPr>
          <p:spPr>
            <a:xfrm rot="0">
              <a:off x="5896935" y="37792"/>
              <a:ext cx="2680579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same connectivity confirmed</a:t>
              </a:r>
            </a:p>
          </p:txBody>
        </p:sp>
        <p:sp>
          <p:nvSpPr>
            <p:cNvPr name="Freeform 93" id="93"/>
            <p:cNvSpPr/>
            <p:nvPr/>
          </p:nvSpPr>
          <p:spPr>
            <a:xfrm flipH="false" flipV="false" rot="0">
              <a:off x="5896935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3" y="0"/>
                  </a:lnTo>
                  <a:lnTo>
                    <a:pt x="220813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91E27">
                <a:alpha val="100000"/>
              </a:srgbClr>
            </a:gs>
            <a:gs pos="100000">
              <a:srgbClr val="48F0E7">
                <a:alpha val="100000"/>
              </a:srgbClr>
            </a:gs>
          </a:gsLst>
          <a:lin ang="189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3253" y="64150"/>
            <a:ext cx="6342869" cy="738200"/>
            <a:chOff x="0" y="0"/>
            <a:chExt cx="2909990" cy="3386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09990" cy="338673"/>
            </a:xfrm>
            <a:custGeom>
              <a:avLst/>
              <a:gdLst/>
              <a:ahLst/>
              <a:cxnLst/>
              <a:rect r="r" b="b" t="t" l="l"/>
              <a:pathLst>
                <a:path h="338673" w="2909990">
                  <a:moveTo>
                    <a:pt x="0" y="0"/>
                  </a:moveTo>
                  <a:lnTo>
                    <a:pt x="2909990" y="0"/>
                  </a:lnTo>
                  <a:lnTo>
                    <a:pt x="2909990" y="338673"/>
                  </a:lnTo>
                  <a:lnTo>
                    <a:pt x="0" y="338673"/>
                  </a:lnTo>
                  <a:close/>
                </a:path>
              </a:pathLst>
            </a:custGeom>
            <a:solidFill>
              <a:srgbClr val="E3EBF2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09990" cy="357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43253" y="5001371"/>
            <a:ext cx="6342869" cy="849504"/>
            <a:chOff x="0" y="0"/>
            <a:chExt cx="2909990" cy="38973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909990" cy="389737"/>
            </a:xfrm>
            <a:custGeom>
              <a:avLst/>
              <a:gdLst/>
              <a:ahLst/>
              <a:cxnLst/>
              <a:rect r="r" b="b" t="t" l="l"/>
              <a:pathLst>
                <a:path h="389737" w="2909990">
                  <a:moveTo>
                    <a:pt x="0" y="0"/>
                  </a:moveTo>
                  <a:lnTo>
                    <a:pt x="2909990" y="0"/>
                  </a:lnTo>
                  <a:lnTo>
                    <a:pt x="2909990" y="389737"/>
                  </a:lnTo>
                  <a:lnTo>
                    <a:pt x="0" y="389737"/>
                  </a:lnTo>
                  <a:close/>
                </a:path>
              </a:pathLst>
            </a:custGeom>
            <a:solidFill>
              <a:srgbClr val="E3EBF2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909990" cy="4087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43253" y="849975"/>
            <a:ext cx="3146387" cy="2023310"/>
            <a:chOff x="0" y="0"/>
            <a:chExt cx="1443504" cy="92825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239735" y="849975"/>
            <a:ext cx="3146387" cy="2023310"/>
            <a:chOff x="0" y="0"/>
            <a:chExt cx="1443504" cy="92825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3253" y="2920911"/>
            <a:ext cx="3146387" cy="2023310"/>
            <a:chOff x="0" y="0"/>
            <a:chExt cx="1443504" cy="92825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239735" y="2920911"/>
            <a:ext cx="3146387" cy="2023310"/>
            <a:chOff x="0" y="0"/>
            <a:chExt cx="1443504" cy="92825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43504" cy="928257"/>
            </a:xfrm>
            <a:custGeom>
              <a:avLst/>
              <a:gdLst/>
              <a:ahLst/>
              <a:cxnLst/>
              <a:rect r="r" b="b" t="t" l="l"/>
              <a:pathLst>
                <a:path h="928257" w="1443504">
                  <a:moveTo>
                    <a:pt x="0" y="0"/>
                  </a:moveTo>
                  <a:lnTo>
                    <a:pt x="1443504" y="0"/>
                  </a:lnTo>
                  <a:lnTo>
                    <a:pt x="1443504" y="928257"/>
                  </a:lnTo>
                  <a:lnTo>
                    <a:pt x="0" y="928257"/>
                  </a:lnTo>
                  <a:close/>
                </a:path>
              </a:pathLst>
            </a:custGeom>
            <a:solidFill>
              <a:srgbClr val="F4F6FC"/>
            </a:solidFill>
            <a:ln w="14288" cap="sq">
              <a:solidFill>
                <a:srgbClr val="204D77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1443504" cy="947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3690377" y="2997111"/>
            <a:ext cx="2148448" cy="2048621"/>
          </a:xfrm>
          <a:custGeom>
            <a:avLst/>
            <a:gdLst/>
            <a:ahLst/>
            <a:cxnLst/>
            <a:rect r="r" b="b" t="t" l="l"/>
            <a:pathLst>
              <a:path h="2048621" w="2148448">
                <a:moveTo>
                  <a:pt x="0" y="0"/>
                </a:moveTo>
                <a:lnTo>
                  <a:pt x="2148448" y="0"/>
                </a:lnTo>
                <a:lnTo>
                  <a:pt x="2148448" y="2048620"/>
                </a:lnTo>
                <a:lnTo>
                  <a:pt x="0" y="20486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38514" y="942961"/>
            <a:ext cx="1827113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1. Molecular Formula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368900" y="942961"/>
            <a:ext cx="1575495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2. Lewis Structure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8514" y="3016161"/>
            <a:ext cx="2955864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3. Condensed Structural Formula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334997" y="3006636"/>
            <a:ext cx="1998141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4. Bond-Line Formula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017812" y="5196760"/>
            <a:ext cx="2393752" cy="229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34"/>
              </a:lnSpc>
            </a:pPr>
            <a:r>
              <a:rPr lang="en-US" sz="1700" b="true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VERIFICATION STRIP 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9379" y="211508"/>
            <a:ext cx="6254433" cy="48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3"/>
              </a:lnSpc>
            </a:pPr>
            <a:r>
              <a:rPr lang="en-US" b="true" sz="2199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CARD 10 - CAFFEINE </a:t>
            </a:r>
          </a:p>
          <a:p>
            <a:pPr algn="ctr">
              <a:lnSpc>
                <a:spcPts val="1631"/>
              </a:lnSpc>
            </a:pPr>
            <a:r>
              <a:rPr lang="en-US" b="true" sz="1599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C₈H₁₀N₄O₂  | 1,3,7-Trimethyl-3,7-dihydro-1H-purine-2,6-dione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2907" y="1600527"/>
            <a:ext cx="2987080" cy="5768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90"/>
              </a:lnSpc>
            </a:pPr>
            <a:r>
              <a:rPr lang="en-US" b="true" sz="4402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C₈H₁₀N₄O₂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627292" y="3676815"/>
            <a:ext cx="9525" cy="5768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90"/>
              </a:lnSpc>
            </a:pPr>
          </a:p>
        </p:txBody>
      </p:sp>
      <p:sp>
        <p:nvSpPr>
          <p:cNvPr name="TextBox 29" id="29"/>
          <p:cNvSpPr txBox="true"/>
          <p:nvPr/>
        </p:nvSpPr>
        <p:spPr>
          <a:xfrm rot="0">
            <a:off x="43253" y="3701465"/>
            <a:ext cx="3109986" cy="6050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8"/>
              </a:lnSpc>
            </a:pPr>
            <a:r>
              <a:rPr lang="en-US" b="true" sz="2302">
                <a:solidFill>
                  <a:srgbClr val="204D7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CN1C=NC2=C1C(=O)N(C(=O)N2C)C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-425861" y="3311436"/>
            <a:ext cx="2955864" cy="19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</a:pPr>
            <a:r>
              <a:rPr lang="en-US" sz="1400">
                <a:solidFill>
                  <a:srgbClr val="204D77"/>
                </a:solidFill>
                <a:latin typeface="Montserrat"/>
                <a:ea typeface="Montserrat"/>
                <a:cs typeface="Montserrat"/>
                <a:sym typeface="Montserrat"/>
              </a:rPr>
              <a:t>SMILES Notation</a:t>
            </a:r>
          </a:p>
        </p:txBody>
      </p:sp>
      <p:grpSp>
        <p:nvGrpSpPr>
          <p:cNvPr name="Group 31" id="31"/>
          <p:cNvGrpSpPr/>
          <p:nvPr/>
        </p:nvGrpSpPr>
        <p:grpSpPr>
          <a:xfrm rot="-2458967">
            <a:off x="4222720" y="1074886"/>
            <a:ext cx="1938548" cy="2099739"/>
            <a:chOff x="0" y="0"/>
            <a:chExt cx="2584730" cy="2799652"/>
          </a:xfrm>
        </p:grpSpPr>
        <p:sp>
          <p:nvSpPr>
            <p:cNvPr name="TextBox 32" id="32"/>
            <p:cNvSpPr txBox="true"/>
            <p:nvPr/>
          </p:nvSpPr>
          <p:spPr>
            <a:xfrm rot="2458967">
              <a:off x="1528402" y="718821"/>
              <a:ext cx="184182" cy="1913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48"/>
                </a:lnSpc>
              </a:pPr>
              <a:r>
                <a:rPr lang="en-US" sz="1027" b="true">
                  <a:solidFill>
                    <a:srgbClr val="777FC5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N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2458967">
              <a:off x="1149943" y="681103"/>
              <a:ext cx="201665" cy="1913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48"/>
                </a:lnSpc>
              </a:pPr>
              <a:r>
                <a:rPr lang="en-US" sz="1027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2458967">
              <a:off x="1627462" y="1095952"/>
              <a:ext cx="201665" cy="1913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48"/>
                </a:lnSpc>
              </a:pPr>
              <a:r>
                <a:rPr lang="en-US" sz="1027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-2941032">
              <a:off x="975517" y="810615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2458967">
              <a:off x="878191" y="977443"/>
              <a:ext cx="140653" cy="1913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sz="1027" b="true">
                  <a:solidFill>
                    <a:srgbClr val="777FC5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N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-2941032">
              <a:off x="1452636" y="1225117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2458967">
              <a:off x="1359960" y="1396383"/>
              <a:ext cx="140653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39" id="39"/>
            <p:cNvSpPr txBox="true"/>
            <p:nvPr/>
          </p:nvSpPr>
          <p:spPr>
            <a:xfrm rot="2458967">
              <a:off x="991519" y="1372303"/>
              <a:ext cx="201665" cy="1944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48"/>
                </a:lnSpc>
              </a:pPr>
              <a:r>
                <a:rPr lang="en-US" sz="1027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40" id="40"/>
            <p:cNvSpPr txBox="true"/>
            <p:nvPr/>
          </p:nvSpPr>
          <p:spPr>
            <a:xfrm rot="771706">
              <a:off x="1315679" y="636918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1" id="41"/>
            <p:cNvSpPr txBox="true"/>
            <p:nvPr/>
          </p:nvSpPr>
          <p:spPr>
            <a:xfrm rot="-6648244">
              <a:off x="1589188" y="871793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2" id="42"/>
            <p:cNvSpPr txBox="true"/>
            <p:nvPr/>
          </p:nvSpPr>
          <p:spPr>
            <a:xfrm rot="771706">
              <a:off x="1138469" y="1427858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3" id="43"/>
            <p:cNvSpPr txBox="true"/>
            <p:nvPr/>
          </p:nvSpPr>
          <p:spPr>
            <a:xfrm rot="-6648244">
              <a:off x="860447" y="1175303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-2941032">
              <a:off x="825132" y="1481447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5" id="45"/>
            <p:cNvSpPr txBox="true"/>
            <p:nvPr/>
          </p:nvSpPr>
          <p:spPr>
            <a:xfrm rot="2458967">
              <a:off x="427064" y="1399959"/>
              <a:ext cx="140653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46" id="46"/>
            <p:cNvSpPr txBox="true"/>
            <p:nvPr/>
          </p:nvSpPr>
          <p:spPr>
            <a:xfrm rot="-7781471">
              <a:off x="1470470" y="1576174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-6648244">
              <a:off x="1055363" y="442494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8" id="48"/>
            <p:cNvSpPr txBox="true"/>
            <p:nvPr/>
          </p:nvSpPr>
          <p:spPr>
            <a:xfrm rot="771706">
              <a:off x="642258" y="963536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49" id="49"/>
            <p:cNvSpPr txBox="true"/>
            <p:nvPr/>
          </p:nvSpPr>
          <p:spPr>
            <a:xfrm rot="-2941032">
              <a:off x="1483652" y="1253973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0" id="50"/>
            <p:cNvSpPr txBox="true"/>
            <p:nvPr/>
          </p:nvSpPr>
          <p:spPr>
            <a:xfrm rot="-2941032">
              <a:off x="1625824" y="546384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1" id="51"/>
            <p:cNvSpPr txBox="true"/>
            <p:nvPr/>
          </p:nvSpPr>
          <p:spPr>
            <a:xfrm rot="2458967">
              <a:off x="1791828" y="438046"/>
              <a:ext cx="201665" cy="1913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48"/>
                </a:lnSpc>
              </a:pPr>
              <a:r>
                <a:rPr lang="en-US" sz="1027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1290431">
              <a:off x="1822565" y="1120515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3" id="53"/>
            <p:cNvSpPr txBox="true"/>
            <p:nvPr/>
          </p:nvSpPr>
          <p:spPr>
            <a:xfrm rot="2458967">
              <a:off x="2064803" y="1666834"/>
              <a:ext cx="201665" cy="1913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48"/>
                </a:lnSpc>
              </a:pPr>
              <a:r>
                <a:rPr lang="en-US" sz="1027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54" id="54"/>
            <p:cNvSpPr txBox="true"/>
            <p:nvPr/>
          </p:nvSpPr>
          <p:spPr>
            <a:xfrm rot="2458967">
              <a:off x="2194935" y="1766005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5" id="55"/>
            <p:cNvSpPr txBox="true"/>
            <p:nvPr/>
          </p:nvSpPr>
          <p:spPr>
            <a:xfrm rot="2458967">
              <a:off x="1569742" y="2227899"/>
              <a:ext cx="201665" cy="1913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48"/>
                </a:lnSpc>
              </a:pPr>
              <a:r>
                <a:rPr lang="en-US" sz="1027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56" id="56"/>
            <p:cNvSpPr txBox="true"/>
            <p:nvPr/>
          </p:nvSpPr>
          <p:spPr>
            <a:xfrm rot="302128">
              <a:off x="1762857" y="2242371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7" id="57"/>
            <p:cNvSpPr txBox="true"/>
            <p:nvPr/>
          </p:nvSpPr>
          <p:spPr>
            <a:xfrm rot="-2579761">
              <a:off x="1406081" y="2358704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8" id="58"/>
            <p:cNvSpPr txBox="true"/>
            <p:nvPr/>
          </p:nvSpPr>
          <p:spPr>
            <a:xfrm rot="-6922434">
              <a:off x="1614257" y="2412068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59" id="59"/>
            <p:cNvSpPr txBox="true"/>
            <p:nvPr/>
          </p:nvSpPr>
          <p:spPr>
            <a:xfrm rot="2458967">
              <a:off x="2391503" y="1903213"/>
              <a:ext cx="140653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60" id="60"/>
            <p:cNvSpPr txBox="true"/>
            <p:nvPr/>
          </p:nvSpPr>
          <p:spPr>
            <a:xfrm rot="2359060">
              <a:off x="2136586" y="1113894"/>
              <a:ext cx="143399" cy="1690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56"/>
                </a:lnSpc>
              </a:pPr>
              <a:r>
                <a:rPr lang="en-US" b="true" sz="937" spc="-89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 .</a:t>
              </a:r>
            </a:p>
          </p:txBody>
        </p:sp>
        <p:sp>
          <p:nvSpPr>
            <p:cNvPr name="TextBox 61" id="61"/>
            <p:cNvSpPr txBox="true"/>
            <p:nvPr/>
          </p:nvSpPr>
          <p:spPr>
            <a:xfrm rot="2458967">
              <a:off x="444535" y="977127"/>
              <a:ext cx="201665" cy="1944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48"/>
                </a:lnSpc>
              </a:pPr>
              <a:r>
                <a:rPr lang="en-US" sz="1027" b="true">
                  <a:solidFill>
                    <a:srgbClr val="0081C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</a:t>
              </a:r>
            </a:p>
          </p:txBody>
        </p:sp>
        <p:sp>
          <p:nvSpPr>
            <p:cNvPr name="TextBox 62" id="62"/>
            <p:cNvSpPr txBox="true"/>
            <p:nvPr/>
          </p:nvSpPr>
          <p:spPr>
            <a:xfrm rot="5477042">
              <a:off x="418604" y="1160709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63" id="63"/>
            <p:cNvSpPr txBox="true"/>
            <p:nvPr/>
          </p:nvSpPr>
          <p:spPr>
            <a:xfrm rot="2188919">
              <a:off x="264035" y="799391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64" id="64"/>
            <p:cNvSpPr txBox="true"/>
            <p:nvPr/>
          </p:nvSpPr>
          <p:spPr>
            <a:xfrm rot="-1337063">
              <a:off x="220661" y="1019070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65" id="65"/>
            <p:cNvSpPr txBox="true"/>
            <p:nvPr/>
          </p:nvSpPr>
          <p:spPr>
            <a:xfrm rot="2458967">
              <a:off x="46329" y="1093885"/>
              <a:ext cx="140653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66" id="66"/>
            <p:cNvSpPr txBox="true"/>
            <p:nvPr/>
          </p:nvSpPr>
          <p:spPr>
            <a:xfrm rot="2458967">
              <a:off x="122727" y="675289"/>
              <a:ext cx="140653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67" id="67"/>
            <p:cNvSpPr txBox="true"/>
            <p:nvPr/>
          </p:nvSpPr>
          <p:spPr>
            <a:xfrm rot="-2941032">
              <a:off x="858407" y="1510150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68" id="68"/>
            <p:cNvSpPr txBox="true"/>
            <p:nvPr/>
          </p:nvSpPr>
          <p:spPr>
            <a:xfrm rot="2458967">
              <a:off x="758712" y="1645914"/>
              <a:ext cx="140653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7DB1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O</a:t>
              </a:r>
            </a:p>
          </p:txBody>
        </p:sp>
        <p:sp>
          <p:nvSpPr>
            <p:cNvPr name="TextBox 69" id="69"/>
            <p:cNvSpPr txBox="true"/>
            <p:nvPr/>
          </p:nvSpPr>
          <p:spPr>
            <a:xfrm rot="-6512801">
              <a:off x="641064" y="1697068"/>
              <a:ext cx="143399" cy="1690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56"/>
                </a:lnSpc>
              </a:pPr>
              <a:r>
                <a:rPr lang="en-US" b="true" sz="937" spc="-89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 .</a:t>
              </a:r>
            </a:p>
          </p:txBody>
        </p:sp>
        <p:sp>
          <p:nvSpPr>
            <p:cNvPr name="TextBox 70" id="70"/>
            <p:cNvSpPr txBox="true"/>
            <p:nvPr/>
          </p:nvSpPr>
          <p:spPr>
            <a:xfrm rot="9836433">
              <a:off x="804070" y="1790161"/>
              <a:ext cx="143399" cy="1690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56"/>
                </a:lnSpc>
              </a:pPr>
              <a:r>
                <a:rPr lang="en-US" b="true" sz="937" spc="-89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 .</a:t>
              </a:r>
            </a:p>
          </p:txBody>
        </p:sp>
        <p:sp>
          <p:nvSpPr>
            <p:cNvPr name="TextBox 71" id="71"/>
            <p:cNvSpPr txBox="true"/>
            <p:nvPr/>
          </p:nvSpPr>
          <p:spPr>
            <a:xfrm rot="-6648244">
              <a:off x="1084482" y="433325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72" id="72"/>
            <p:cNvSpPr txBox="true"/>
            <p:nvPr/>
          </p:nvSpPr>
          <p:spPr>
            <a:xfrm rot="2458967">
              <a:off x="1018545" y="248058"/>
              <a:ext cx="140653" cy="1913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7DB1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O</a:t>
              </a:r>
            </a:p>
          </p:txBody>
        </p:sp>
        <p:sp>
          <p:nvSpPr>
            <p:cNvPr name="TextBox 73" id="73"/>
            <p:cNvSpPr txBox="true"/>
            <p:nvPr/>
          </p:nvSpPr>
          <p:spPr>
            <a:xfrm rot="3600093">
              <a:off x="1148236" y="172478"/>
              <a:ext cx="143399" cy="1690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56"/>
                </a:lnSpc>
              </a:pPr>
              <a:r>
                <a:rPr lang="en-US" b="true" sz="937" spc="-89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 .</a:t>
              </a:r>
            </a:p>
          </p:txBody>
        </p:sp>
        <p:sp>
          <p:nvSpPr>
            <p:cNvPr name="TextBox 74" id="74"/>
            <p:cNvSpPr txBox="true"/>
            <p:nvPr/>
          </p:nvSpPr>
          <p:spPr>
            <a:xfrm rot="-1650671">
              <a:off x="969993" y="113602"/>
              <a:ext cx="143399" cy="1690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56"/>
                </a:lnSpc>
              </a:pPr>
              <a:r>
                <a:rPr lang="en-US" b="true" sz="937" spc="-89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 .</a:t>
              </a:r>
            </a:p>
          </p:txBody>
        </p:sp>
        <p:sp>
          <p:nvSpPr>
            <p:cNvPr name="TextBox 75" id="75"/>
            <p:cNvSpPr txBox="true"/>
            <p:nvPr/>
          </p:nvSpPr>
          <p:spPr>
            <a:xfrm rot="-6103452">
              <a:off x="1699928" y="216385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76" id="76"/>
            <p:cNvSpPr txBox="true"/>
            <p:nvPr/>
          </p:nvSpPr>
          <p:spPr>
            <a:xfrm rot="-9288286">
              <a:off x="1926570" y="518453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77" id="77"/>
            <p:cNvSpPr txBox="true"/>
            <p:nvPr/>
          </p:nvSpPr>
          <p:spPr>
            <a:xfrm rot="8624749">
              <a:off x="1936436" y="280053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78" id="78"/>
            <p:cNvSpPr txBox="true"/>
            <p:nvPr/>
          </p:nvSpPr>
          <p:spPr>
            <a:xfrm rot="2458967">
              <a:off x="2029850" y="1233673"/>
              <a:ext cx="184182" cy="1913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48"/>
                </a:lnSpc>
              </a:pPr>
              <a:r>
                <a:rPr lang="en-US" sz="1027" b="true">
                  <a:solidFill>
                    <a:srgbClr val="777FC5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N</a:t>
              </a:r>
            </a:p>
          </p:txBody>
        </p:sp>
        <p:sp>
          <p:nvSpPr>
            <p:cNvPr name="TextBox 79" id="79"/>
            <p:cNvSpPr txBox="true"/>
            <p:nvPr/>
          </p:nvSpPr>
          <p:spPr>
            <a:xfrm rot="2458967">
              <a:off x="1643469" y="1786838"/>
              <a:ext cx="184182" cy="1913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48"/>
                </a:lnSpc>
              </a:pPr>
              <a:r>
                <a:rPr lang="en-US" sz="1027" b="true">
                  <a:solidFill>
                    <a:srgbClr val="777FC5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N</a:t>
              </a:r>
            </a:p>
          </p:txBody>
        </p:sp>
        <p:sp>
          <p:nvSpPr>
            <p:cNvPr name="TextBox 80" id="80"/>
            <p:cNvSpPr txBox="true"/>
            <p:nvPr/>
          </p:nvSpPr>
          <p:spPr>
            <a:xfrm rot="2458967">
              <a:off x="2153340" y="613157"/>
              <a:ext cx="140653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81" id="81"/>
            <p:cNvSpPr txBox="true"/>
            <p:nvPr/>
          </p:nvSpPr>
          <p:spPr>
            <a:xfrm rot="2458967">
              <a:off x="2114999" y="145949"/>
              <a:ext cx="140653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82" id="82"/>
            <p:cNvSpPr txBox="true"/>
            <p:nvPr/>
          </p:nvSpPr>
          <p:spPr>
            <a:xfrm rot="2458967">
              <a:off x="1661774" y="29558"/>
              <a:ext cx="140653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83" id="83"/>
            <p:cNvSpPr txBox="true"/>
            <p:nvPr/>
          </p:nvSpPr>
          <p:spPr>
            <a:xfrm rot="-5400000">
              <a:off x="2031218" y="1424210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84" id="84"/>
            <p:cNvSpPr txBox="true"/>
            <p:nvPr/>
          </p:nvSpPr>
          <p:spPr>
            <a:xfrm rot="-5400000">
              <a:off x="2073556" y="1425652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85" id="85"/>
            <p:cNvSpPr txBox="true"/>
            <p:nvPr/>
          </p:nvSpPr>
          <p:spPr>
            <a:xfrm rot="-695965">
              <a:off x="1837851" y="1707943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86" id="86"/>
            <p:cNvSpPr txBox="true"/>
            <p:nvPr/>
          </p:nvSpPr>
          <p:spPr>
            <a:xfrm rot="5477042">
              <a:off x="1610516" y="1990013"/>
              <a:ext cx="217917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—</a:t>
              </a:r>
            </a:p>
          </p:txBody>
        </p:sp>
        <p:sp>
          <p:nvSpPr>
            <p:cNvPr name="TextBox 87" id="87"/>
            <p:cNvSpPr txBox="true"/>
            <p:nvPr/>
          </p:nvSpPr>
          <p:spPr>
            <a:xfrm rot="2458967">
              <a:off x="2022355" y="2282494"/>
              <a:ext cx="140653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88" id="88"/>
            <p:cNvSpPr txBox="true"/>
            <p:nvPr/>
          </p:nvSpPr>
          <p:spPr>
            <a:xfrm rot="2458967">
              <a:off x="1760906" y="2583440"/>
              <a:ext cx="140653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89" id="89"/>
            <p:cNvSpPr txBox="true"/>
            <p:nvPr/>
          </p:nvSpPr>
          <p:spPr>
            <a:xfrm rot="2458967">
              <a:off x="1306416" y="2508293"/>
              <a:ext cx="140653" cy="193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8"/>
                </a:lnSpc>
              </a:pPr>
              <a:r>
                <a:rPr lang="en-US" b="true" sz="1027">
                  <a:solidFill>
                    <a:srgbClr val="4C74B1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</a:t>
              </a:r>
            </a:p>
          </p:txBody>
        </p:sp>
        <p:sp>
          <p:nvSpPr>
            <p:cNvPr name="TextBox 90" id="90"/>
            <p:cNvSpPr txBox="true"/>
            <p:nvPr/>
          </p:nvSpPr>
          <p:spPr>
            <a:xfrm rot="-509807">
              <a:off x="1516970" y="534949"/>
              <a:ext cx="143399" cy="1690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56"/>
                </a:lnSpc>
              </a:pPr>
              <a:r>
                <a:rPr lang="en-US" b="true" sz="937" spc="-89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 .</a:t>
              </a:r>
            </a:p>
          </p:txBody>
        </p:sp>
        <p:sp>
          <p:nvSpPr>
            <p:cNvPr name="TextBox 91" id="91"/>
            <p:cNvSpPr txBox="true"/>
            <p:nvPr/>
          </p:nvSpPr>
          <p:spPr>
            <a:xfrm rot="2359060">
              <a:off x="831578" y="1034916"/>
              <a:ext cx="143399" cy="1690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56"/>
                </a:lnSpc>
              </a:pPr>
              <a:r>
                <a:rPr lang="en-US" b="true" sz="937" spc="-89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 .</a:t>
              </a:r>
            </a:p>
          </p:txBody>
        </p:sp>
        <p:sp>
          <p:nvSpPr>
            <p:cNvPr name="TextBox 92" id="92"/>
            <p:cNvSpPr txBox="true"/>
            <p:nvPr/>
          </p:nvSpPr>
          <p:spPr>
            <a:xfrm rot="7858967">
              <a:off x="1760014" y="1875254"/>
              <a:ext cx="143399" cy="1690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56"/>
                </a:lnSpc>
              </a:pPr>
              <a:r>
                <a:rPr lang="en-US" b="true" sz="937" spc="-89">
                  <a:solidFill>
                    <a:srgbClr val="204D77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. .</a:t>
              </a: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99379" y="5492798"/>
            <a:ext cx="6433135" cy="157330"/>
            <a:chOff x="0" y="0"/>
            <a:chExt cx="8577514" cy="209773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 rot="0">
              <a:off x="54749" y="37792"/>
              <a:ext cx="1804732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atom count verified</a:t>
              </a:r>
            </a:p>
          </p:txBody>
        </p:sp>
        <p:sp>
          <p:nvSpPr>
            <p:cNvPr name="TextBox 96" id="96"/>
            <p:cNvSpPr txBox="true"/>
            <p:nvPr/>
          </p:nvSpPr>
          <p:spPr>
            <a:xfrm rot="0">
              <a:off x="2138716" y="37792"/>
              <a:ext cx="1522716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valence checked</a:t>
              </a:r>
            </a:p>
          </p:txBody>
        </p:sp>
        <p:sp>
          <p:nvSpPr>
            <p:cNvPr name="Freeform 97" id="97"/>
            <p:cNvSpPr/>
            <p:nvPr/>
          </p:nvSpPr>
          <p:spPr>
            <a:xfrm flipH="false" flipV="false" rot="0">
              <a:off x="2028309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 rot="0">
              <a:off x="3882330" y="37792"/>
              <a:ext cx="1850357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bond order checked</a:t>
              </a:r>
            </a:p>
          </p:txBody>
        </p:sp>
        <p:sp>
          <p:nvSpPr>
            <p:cNvPr name="Freeform 99" id="99"/>
            <p:cNvSpPr/>
            <p:nvPr/>
          </p:nvSpPr>
          <p:spPr>
            <a:xfrm flipH="false" flipV="false" rot="0">
              <a:off x="3825680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4" y="0"/>
                  </a:lnTo>
                  <a:lnTo>
                    <a:pt x="220814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 rot="0">
              <a:off x="5896935" y="37792"/>
              <a:ext cx="2680579" cy="150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67"/>
                </a:lnSpc>
              </a:pPr>
              <a:r>
                <a:rPr lang="en-US" sz="850">
                  <a:solidFill>
                    <a:srgbClr val="204D7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same connectivity confirmed</a:t>
              </a:r>
            </a:p>
          </p:txBody>
        </p:sp>
        <p:sp>
          <p:nvSpPr>
            <p:cNvPr name="Freeform 101" id="101"/>
            <p:cNvSpPr/>
            <p:nvPr/>
          </p:nvSpPr>
          <p:spPr>
            <a:xfrm flipH="false" flipV="false" rot="0">
              <a:off x="5896935" y="0"/>
              <a:ext cx="220814" cy="209773"/>
            </a:xfrm>
            <a:custGeom>
              <a:avLst/>
              <a:gdLst/>
              <a:ahLst/>
              <a:cxnLst/>
              <a:rect r="r" b="b" t="t" l="l"/>
              <a:pathLst>
                <a:path h="209773" w="220814">
                  <a:moveTo>
                    <a:pt x="0" y="0"/>
                  </a:moveTo>
                  <a:lnTo>
                    <a:pt x="220813" y="0"/>
                  </a:lnTo>
                  <a:lnTo>
                    <a:pt x="220813" y="209773"/>
                  </a:lnTo>
                  <a:lnTo>
                    <a:pt x="0" y="209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102" id="102"/>
          <p:cNvSpPr txBox="true"/>
          <p:nvPr/>
        </p:nvSpPr>
        <p:spPr>
          <a:xfrm rot="0">
            <a:off x="138514" y="4523596"/>
            <a:ext cx="2955864" cy="353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8"/>
              </a:lnSpc>
            </a:pPr>
            <a:r>
              <a:rPr lang="en-US" sz="900" i="true" b="true">
                <a:solidFill>
                  <a:srgbClr val="204D77"/>
                </a:solidFill>
                <a:latin typeface="Montserrat Bold Italics"/>
                <a:ea typeface="Montserrat Bold Italics"/>
                <a:cs typeface="Montserrat Bold Italics"/>
                <a:sym typeface="Montserrat Bold Italics"/>
              </a:rPr>
              <a:t>Note: </a:t>
            </a:r>
            <a:r>
              <a:rPr lang="en-US" sz="900" i="true">
                <a:solidFill>
                  <a:srgbClr val="204D77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Caffeine does not have a conventional condensed structural formula because it is a complex, bicylclic, heterocyclic organic compound.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DAHXrQYBnh8</dc:identifier>
  <dcterms:modified xsi:type="dcterms:W3CDTF">2011-08-01T06:04:30Z</dcterms:modified>
  <cp:revision>1</cp:revision>
  <dc:title>CHEM13_AsynchronousActivity_02</dc:title>
</cp:coreProperties>
</file>