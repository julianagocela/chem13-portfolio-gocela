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6426200" cy="59055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Montserrat Bold Italics" charset="1" panose="00000800000000000000"/>
      <p:regular r:id="rId18"/>
    </p:embeddedFont>
    <p:embeddedFont>
      <p:font typeface="Montserrat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464440">
            <a:off x="3108063" y="2700790"/>
            <a:ext cx="3409731" cy="2377568"/>
          </a:xfrm>
          <a:custGeom>
            <a:avLst/>
            <a:gdLst/>
            <a:ahLst/>
            <a:cxnLst/>
            <a:rect r="r" b="b" t="t" l="l"/>
            <a:pathLst>
              <a:path h="2377568" w="3409731">
                <a:moveTo>
                  <a:pt x="0" y="0"/>
                </a:moveTo>
                <a:lnTo>
                  <a:pt x="3409731" y="0"/>
                </a:lnTo>
                <a:lnTo>
                  <a:pt x="3409731" y="2377569"/>
                </a:lnTo>
                <a:lnTo>
                  <a:pt x="0" y="2377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36775" y="169979"/>
            <a:ext cx="2955826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01 - PROPANE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C₃H₈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4224" y="1600527"/>
            <a:ext cx="1464446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C₃H₈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392" y="3686340"/>
            <a:ext cx="2780109" cy="4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7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</a:t>
            </a:r>
            <a:r>
              <a:rPr lang="en-US" b="true" sz="37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CH₂CH₃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996976" y="1260716"/>
            <a:ext cx="3782062" cy="1484297"/>
            <a:chOff x="0" y="0"/>
            <a:chExt cx="5042750" cy="197906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326918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576313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-5400000">
              <a:off x="1495950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347606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-5400000">
              <a:off x="2267242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118899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-5400000">
              <a:off x="3038536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-5400000">
              <a:off x="1535388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5400000">
              <a:off x="2306680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5400000">
              <a:off x="3077972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615485" y="161879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386778" y="161879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158071" y="161879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695144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89640" y="3210090"/>
            <a:ext cx="3300598" cy="1526386"/>
          </a:xfrm>
          <a:custGeom>
            <a:avLst/>
            <a:gdLst/>
            <a:ahLst/>
            <a:cxnLst/>
            <a:rect r="r" b="b" t="t" l="l"/>
            <a:pathLst>
              <a:path h="1526386" w="3300598">
                <a:moveTo>
                  <a:pt x="0" y="0"/>
                </a:moveTo>
                <a:lnTo>
                  <a:pt x="3300598" y="0"/>
                </a:lnTo>
                <a:lnTo>
                  <a:pt x="3300598" y="1526386"/>
                </a:lnTo>
                <a:lnTo>
                  <a:pt x="0" y="152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067" y="169979"/>
            <a:ext cx="2979241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02 - ETHANOL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C₂H₆O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6939" y="1600527"/>
            <a:ext cx="1979016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C₂H₆O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1401" y="3676815"/>
            <a:ext cx="2630091" cy="4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7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</a:t>
            </a:r>
            <a:r>
              <a:rPr lang="en-US" b="true" sz="37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CH₂OH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015129" y="1270241"/>
            <a:ext cx="3595599" cy="1484297"/>
            <a:chOff x="0" y="0"/>
            <a:chExt cx="4794132" cy="1979062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615485" y="823060"/>
              <a:ext cx="3178647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4"/>
                </a:lnSpc>
              </a:pP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964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576313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-5400000">
              <a:off x="1495950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347606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-5400000">
              <a:off x="2267242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1535388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-5400000">
              <a:off x="2306680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615485" y="161879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386778" y="161879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055957" y="544071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224060" y="544071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076144" y="945616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244246" y="945616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50" id="50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691464" y="3191040"/>
            <a:ext cx="2175936" cy="1776607"/>
          </a:xfrm>
          <a:custGeom>
            <a:avLst/>
            <a:gdLst/>
            <a:ahLst/>
            <a:cxnLst/>
            <a:rect r="r" b="b" t="t" l="l"/>
            <a:pathLst>
              <a:path h="1776607" w="2175936">
                <a:moveTo>
                  <a:pt x="0" y="0"/>
                </a:moveTo>
                <a:lnTo>
                  <a:pt x="2175936" y="0"/>
                </a:lnTo>
                <a:lnTo>
                  <a:pt x="2175936" y="1776607"/>
                </a:lnTo>
                <a:lnTo>
                  <a:pt x="0" y="1776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0397" y="169979"/>
            <a:ext cx="5628581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03 - ACETONE (PROPAN-2-ONE)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C₃H₆O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6939" y="1600527"/>
            <a:ext cx="1979016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C₃H₆O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2535" y="3676815"/>
            <a:ext cx="2587823" cy="4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7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CH₃COCH₃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921897" y="1260716"/>
            <a:ext cx="3782062" cy="1485232"/>
            <a:chOff x="0" y="0"/>
            <a:chExt cx="5042750" cy="198031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326918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576313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-5400000">
              <a:off x="1495950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347606" y="28575"/>
              <a:ext cx="268928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-5400000">
              <a:off x="2247656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118899" y="28575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-5400000">
              <a:off x="3038536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-5400000">
              <a:off x="1535388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5400000">
              <a:off x="3077972" y="1201754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615485" y="1618793"/>
              <a:ext cx="268928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158071" y="1618793"/>
              <a:ext cx="268928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695144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813290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 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-5400000">
              <a:off x="2328402" y="396252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48" id="48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50" id="50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788458" y="3210090"/>
            <a:ext cx="2311873" cy="1831104"/>
          </a:xfrm>
          <a:custGeom>
            <a:avLst/>
            <a:gdLst/>
            <a:ahLst/>
            <a:cxnLst/>
            <a:rect r="r" b="b" t="t" l="l"/>
            <a:pathLst>
              <a:path h="1831104" w="2311873">
                <a:moveTo>
                  <a:pt x="0" y="0"/>
                </a:moveTo>
                <a:lnTo>
                  <a:pt x="2311873" y="0"/>
                </a:lnTo>
                <a:lnTo>
                  <a:pt x="2311873" y="1831104"/>
                </a:lnTo>
                <a:lnTo>
                  <a:pt x="0" y="1831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762" y="169979"/>
            <a:ext cx="6203851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04 - ACETIC ACID (ETHANOIC ACID)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C₂H₄O₂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5806" y="1600527"/>
            <a:ext cx="2241282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C₂H₄O₂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7544" y="3676815"/>
            <a:ext cx="2437805" cy="4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7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CH₃COOH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4038910" y="184948"/>
            <a:ext cx="1509936" cy="3566221"/>
            <a:chOff x="0" y="0"/>
            <a:chExt cx="2013248" cy="4754961"/>
          </a:xfrm>
        </p:grpSpPr>
        <p:sp>
          <p:nvSpPr>
            <p:cNvPr name="TextBox 30" id="30"/>
            <p:cNvSpPr txBox="true"/>
            <p:nvPr/>
          </p:nvSpPr>
          <p:spPr>
            <a:xfrm rot="5400000">
              <a:off x="1635889" y="1530642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194347" y="1524143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76218" y="243852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44320" y="2438523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5400000">
              <a:off x="1635264" y="2301312"/>
              <a:ext cx="268928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94347" y="2275850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88845" y="1563581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5400000">
              <a:off x="45670" y="1569814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5400000">
              <a:off x="-188790" y="993044"/>
              <a:ext cx="2347606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 </a:t>
              </a: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94347" y="2356596"/>
              <a:ext cx="41665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196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556031" y="2036978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724134" y="2036978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5400000">
              <a:off x="-619012" y="2984878"/>
              <a:ext cx="3178647" cy="36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4"/>
                </a:lnSpc>
              </a:pP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964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964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5400000">
              <a:off x="1115460" y="2971114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5400000">
              <a:off x="1115460" y="3139218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5400000">
              <a:off x="713916" y="2991302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5400000">
              <a:off x="713916" y="3159404"/>
              <a:ext cx="268928" cy="360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sz="1964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49475" y="3200565"/>
            <a:ext cx="3236647" cy="1705289"/>
          </a:xfrm>
          <a:custGeom>
            <a:avLst/>
            <a:gdLst/>
            <a:ahLst/>
            <a:cxnLst/>
            <a:rect r="r" b="b" t="t" l="l"/>
            <a:pathLst>
              <a:path h="1705289" w="3236647">
                <a:moveTo>
                  <a:pt x="0" y="0"/>
                </a:moveTo>
                <a:lnTo>
                  <a:pt x="3236647" y="0"/>
                </a:lnTo>
                <a:lnTo>
                  <a:pt x="3236647" y="1705290"/>
                </a:lnTo>
                <a:lnTo>
                  <a:pt x="0" y="170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021" y="181219"/>
            <a:ext cx="6136382" cy="53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b="true" sz="19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05 - ETHYL ACETATE (ETHYL ETHANOATE)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C₄H₈O₂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5806" y="1600527"/>
            <a:ext cx="2241282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C₄H₈O₂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418" y="3753015"/>
            <a:ext cx="3066058" cy="3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9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CH₃COOCH₂CH₃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921472" y="1384541"/>
            <a:ext cx="3821013" cy="1161833"/>
            <a:chOff x="0" y="0"/>
            <a:chExt cx="5094684" cy="1549111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197796" y="45027"/>
              <a:ext cx="204351" cy="28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-5400000">
              <a:off x="1135397" y="325746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-5400000">
              <a:off x="1886336" y="91701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783879" y="45027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-5400000">
              <a:off x="1706598" y="325746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1165365" y="937824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27561" y="1253388"/>
              <a:ext cx="204351" cy="28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641310"/>
              <a:ext cx="1783879" cy="28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 </a:t>
              </a: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5400000">
              <a:off x="1767954" y="325746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5400000">
              <a:off x="1581214" y="107040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5400000">
              <a:off x="1581214" y="-20697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5400000">
              <a:off x="1886336" y="-36036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435445" y="745608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197796" y="652481"/>
              <a:ext cx="3896889" cy="280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en-US" sz="14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4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493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4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 </a:t>
              </a:r>
              <a:r>
                <a:rPr lang="en-US" sz="14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 </a:t>
              </a: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493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292369" y="440486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420106" y="440486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307709" y="745608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sz="14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971362" y="64328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-5400000">
              <a:off x="2908964" y="345047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557446" y="64328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-5400000">
              <a:off x="3495047" y="345047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-5400000">
              <a:off x="2938932" y="957125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-5400000">
              <a:off x="3525015" y="957125"/>
              <a:ext cx="316606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001127" y="1272689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587211" y="1272689"/>
              <a:ext cx="204351" cy="276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2"/>
                </a:lnSpc>
              </a:pPr>
              <a:r>
                <a:rPr lang="en-US" b="true" sz="14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59" id="59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63" id="63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07519" y="3149473"/>
            <a:ext cx="1810820" cy="1869129"/>
          </a:xfrm>
          <a:custGeom>
            <a:avLst/>
            <a:gdLst/>
            <a:ahLst/>
            <a:cxnLst/>
            <a:rect r="r" b="b" t="t" l="l"/>
            <a:pathLst>
              <a:path h="1869129" w="1810820">
                <a:moveTo>
                  <a:pt x="0" y="0"/>
                </a:moveTo>
                <a:lnTo>
                  <a:pt x="1810819" y="0"/>
                </a:lnTo>
                <a:lnTo>
                  <a:pt x="1810819" y="1869129"/>
                </a:lnTo>
                <a:lnTo>
                  <a:pt x="0" y="1869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4585" y="169979"/>
            <a:ext cx="3860205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06 - CYCLOHEXANE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C₆H₁₂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3091" y="1600527"/>
            <a:ext cx="1726712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C₆H₁₂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985" y="3819193"/>
            <a:ext cx="3006923" cy="26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20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CH₂CH₂CH₂CH₂CH₂CH₂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015606" y="1136891"/>
            <a:ext cx="1594646" cy="1693818"/>
            <a:chOff x="0" y="0"/>
            <a:chExt cx="2126194" cy="2258424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996353" y="485204"/>
              <a:ext cx="256057" cy="24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0"/>
                </a:lnSpc>
              </a:pPr>
              <a:r>
                <a:rPr lang="en-US" sz="130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93533" y="744255"/>
              <a:ext cx="256057" cy="24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0"/>
                </a:lnSpc>
              </a:pPr>
              <a:r>
                <a:rPr lang="en-US" sz="130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96697" y="744255"/>
              <a:ext cx="256057" cy="24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0"/>
                </a:lnSpc>
              </a:pPr>
              <a:r>
                <a:rPr lang="en-US" sz="130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-5400000">
              <a:off x="536162" y="1003016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89316" y="1279998"/>
              <a:ext cx="178589" cy="236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sz="130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1338653" y="1003016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400983" y="1279998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018551" y="1538221"/>
              <a:ext cx="256057" cy="24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0"/>
                </a:lnSpc>
              </a:pPr>
              <a:r>
                <a:rPr lang="en-US" sz="1304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1687261">
              <a:off x="715732" y="556331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9107212">
              <a:off x="1173486" y="547575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1687261">
              <a:off x="1204506" y="1462028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9107212">
              <a:off x="727715" y="1445332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827392" y="19050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3912592">
              <a:off x="844521" y="257705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6767409">
              <a:off x="1062509" y="252197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185314" y="19050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-6887407">
              <a:off x="1091776" y="1749960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-4032590">
              <a:off x="873788" y="1755469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845746" y="2019251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203668" y="2019251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769017" y="313858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7885243">
              <a:off x="1537534" y="527827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10740059">
              <a:off x="1630504" y="725071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10761885">
              <a:off x="1636259" y="1285302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-7983297">
              <a:off x="1552083" y="1486456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-2914756">
              <a:off x="345436" y="1503880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-59940">
              <a:off x="252466" y="1306635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-38114">
              <a:off x="246711" y="746405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2816702">
              <a:off x="330887" y="545251"/>
              <a:ext cx="276692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947605" y="744120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947605" y="1285874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820298" y="1696263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0" y="792288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0" y="1334041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55888" y="1750318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78589" y="356507"/>
              <a:ext cx="178589" cy="239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0"/>
                </a:lnSpc>
              </a:pPr>
              <a:r>
                <a:rPr lang="en-US" b="true" sz="1304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70" id="70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72" id="72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74" id="74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600122" y="3181515"/>
            <a:ext cx="2267278" cy="1696539"/>
          </a:xfrm>
          <a:custGeom>
            <a:avLst/>
            <a:gdLst/>
            <a:ahLst/>
            <a:cxnLst/>
            <a:rect r="r" b="b" t="t" l="l"/>
            <a:pathLst>
              <a:path h="1696539" w="2267278">
                <a:moveTo>
                  <a:pt x="0" y="0"/>
                </a:moveTo>
                <a:lnTo>
                  <a:pt x="2267278" y="0"/>
                </a:lnTo>
                <a:lnTo>
                  <a:pt x="2267278" y="1696539"/>
                </a:lnTo>
                <a:lnTo>
                  <a:pt x="0" y="1696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6729" y="169979"/>
            <a:ext cx="4315917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07 - CYCLOHEXANONE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C₆H₁₀O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5806" y="1600527"/>
            <a:ext cx="2241282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C₆H₁₀O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6706" y="3676815"/>
            <a:ext cx="2199481" cy="4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7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(CH₂)₅CO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013498" y="1136891"/>
            <a:ext cx="1598861" cy="1698295"/>
            <a:chOff x="0" y="0"/>
            <a:chExt cx="2131814" cy="226439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998987" y="486436"/>
              <a:ext cx="256734" cy="236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4"/>
                </a:lnSpc>
              </a:pPr>
              <a:r>
                <a:rPr lang="en-US" sz="1308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95102" y="746172"/>
              <a:ext cx="256734" cy="236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4"/>
                </a:lnSpc>
              </a:pPr>
              <a:r>
                <a:rPr lang="en-US" sz="1308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400388" y="746172"/>
              <a:ext cx="256734" cy="236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4"/>
                </a:lnSpc>
              </a:pPr>
              <a:r>
                <a:rPr lang="en-US" sz="1308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-5400000">
              <a:off x="537554" y="1005642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90874" y="1283331"/>
              <a:ext cx="179061" cy="236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sz="1308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1342166" y="1005642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404686" y="1283331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021244" y="1542237"/>
              <a:ext cx="256734" cy="240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34"/>
                </a:lnSpc>
              </a:pPr>
              <a:r>
                <a:rPr lang="en-US" sz="1308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1687261">
              <a:off x="717612" y="557754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9107212">
              <a:off x="1176576" y="549020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1687261">
              <a:off x="1207678" y="1465845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9107212">
              <a:off x="729627" y="1449150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829579" y="19050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3912592">
              <a:off x="846776" y="258351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6767409">
              <a:off x="1065340" y="252848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188447" y="19050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-6887407">
              <a:off x="1094639" y="1754571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-4032590">
              <a:off x="876075" y="1760074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847982" y="2024538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206850" y="2024538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10740059">
              <a:off x="1614004" y="768538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10761885">
              <a:off x="1640584" y="1288699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-7983297">
              <a:off x="1556167" y="1490377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-2914756">
              <a:off x="346330" y="1507813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-59940">
              <a:off x="253132" y="1310039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-38114">
              <a:off x="247363" y="748328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2816702">
              <a:off x="331780" y="546650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952753" y="737940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952753" y="1289222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825110" y="1700696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794331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0" y="1337517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56300" y="1754894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79061" y="357399"/>
              <a:ext cx="179061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10740059">
              <a:off x="1614004" y="721290"/>
              <a:ext cx="277424" cy="239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b="true" sz="1308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69" id="69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71" id="71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36875" y="3333915"/>
            <a:ext cx="3292500" cy="1410017"/>
          </a:xfrm>
          <a:custGeom>
            <a:avLst/>
            <a:gdLst/>
            <a:ahLst/>
            <a:cxnLst/>
            <a:rect r="r" b="b" t="t" l="l"/>
            <a:pathLst>
              <a:path h="1410017" w="3292500">
                <a:moveTo>
                  <a:pt x="0" y="0"/>
                </a:moveTo>
                <a:lnTo>
                  <a:pt x="3292500" y="0"/>
                </a:lnTo>
                <a:lnTo>
                  <a:pt x="3292500" y="1410017"/>
                </a:lnTo>
                <a:lnTo>
                  <a:pt x="0" y="141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4269" y="181219"/>
            <a:ext cx="5900837" cy="53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b="true" sz="19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08 - ACETAMINOPHEN (PARACETAMOL)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C₈H₉NO₂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9349" y="1600527"/>
            <a:ext cx="2734195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C₈H₉NO₂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18" y="3772065"/>
            <a:ext cx="3040856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</a:pPr>
            <a:r>
              <a:rPr lang="en-US" sz="26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HOC₆H₄NHCOCH₃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314270" y="1326486"/>
            <a:ext cx="2997317" cy="1350034"/>
            <a:chOff x="0" y="0"/>
            <a:chExt cx="3996423" cy="180004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1049359" y="378308"/>
              <a:ext cx="698962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097343" y="1140071"/>
              <a:ext cx="698962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 </a:t>
              </a: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854937" y="766020"/>
              <a:ext cx="234201" cy="22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7"/>
                </a:lnSpc>
              </a:pP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-7124377">
              <a:off x="1673943" y="547955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-3648770">
              <a:off x="902707" y="552238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825310" y="786323"/>
              <a:ext cx="234201" cy="22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7"/>
                </a:lnSpc>
              </a:pP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-7637224">
              <a:off x="920485" y="988821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-3648770">
              <a:off x="1725698" y="969571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2816702">
              <a:off x="862156" y="183412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719971" y="9525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7909400">
              <a:off x="1675337" y="197326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878918" y="9525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10740059">
              <a:off x="1320203" y="1118207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-3648770">
              <a:off x="937131" y="572913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-7124377">
              <a:off x="1707387" y="528836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55890" y="787081"/>
              <a:ext cx="569420" cy="230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—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7909400">
              <a:off x="99037" y="951808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168685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7909400">
              <a:off x="937001" y="1333790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790949" y="1504620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2816702">
              <a:off x="1739570" y="1299302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960692" y="1501800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1141126">
              <a:off x="385658" y="621608"/>
              <a:ext cx="182557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 spc="-11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021960" y="743413"/>
              <a:ext cx="569420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193" b="true">
                  <a:solidFill>
                    <a:srgbClr val="777F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7909400">
              <a:off x="2496890" y="551908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700472" y="364107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-2700000">
              <a:off x="2526089" y="1539282"/>
              <a:ext cx="182557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 spc="-11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2679316" y="1090102"/>
              <a:ext cx="349082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-7637224">
              <a:off x="2502458" y="930966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-3648770">
              <a:off x="2542208" y="1266958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464811" y="1501042"/>
              <a:ext cx="234201" cy="22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17"/>
                </a:lnSpc>
              </a:pPr>
              <a:r>
                <a:rPr lang="en-US" sz="1193" b="true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-3648770">
              <a:off x="2576633" y="1287632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884120" y="1077837"/>
              <a:ext cx="569420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193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7909400">
              <a:off x="3354938" y="909120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3558519" y="721319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2816702">
              <a:off x="3387615" y="1261673"/>
              <a:ext cx="25307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608737" y="1464171"/>
              <a:ext cx="163345" cy="226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3427003" y="1077837"/>
              <a:ext cx="569420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sz="1193" b="true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 </a:t>
              </a:r>
              <a:r>
                <a:rPr lang="en-US" sz="1193" b="true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-4109639">
              <a:off x="155950" y="718107"/>
              <a:ext cx="182557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 spc="-11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-2700000">
              <a:off x="2217122" y="572344"/>
              <a:ext cx="182557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 spc="-11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-2700000">
              <a:off x="2336192" y="1372726"/>
              <a:ext cx="182557" cy="22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7"/>
                </a:lnSpc>
              </a:pPr>
              <a:r>
                <a:rPr lang="en-US" b="true" sz="1193" spc="-113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75" id="75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77" id="77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514884" y="3018605"/>
            <a:ext cx="2596089" cy="2004260"/>
          </a:xfrm>
          <a:custGeom>
            <a:avLst/>
            <a:gdLst/>
            <a:ahLst/>
            <a:cxnLst/>
            <a:rect r="r" b="b" t="t" l="l"/>
            <a:pathLst>
              <a:path h="2004260" w="2596089">
                <a:moveTo>
                  <a:pt x="0" y="0"/>
                </a:moveTo>
                <a:lnTo>
                  <a:pt x="2596089" y="0"/>
                </a:lnTo>
                <a:lnTo>
                  <a:pt x="2596089" y="2004260"/>
                </a:lnTo>
                <a:lnTo>
                  <a:pt x="0" y="2004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1754" y="180647"/>
            <a:ext cx="5985867" cy="5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20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09 - ASPIRIN (ACETYLSALICYLIC ACID)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C₉H₈O₄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5806" y="1600527"/>
            <a:ext cx="2241282" cy="61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8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C₉H₈O₄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347" y="3791115"/>
            <a:ext cx="3048199" cy="31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2402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CH₃COOC₆H₄COOH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957338" y="1136891"/>
            <a:ext cx="1805287" cy="1698295"/>
            <a:chOff x="0" y="0"/>
            <a:chExt cx="2407049" cy="226439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636422" y="968882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45669" y="1155863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925386" y="1155863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-5400000">
              <a:off x="306910" y="133998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2626" y="1542558"/>
              <a:ext cx="128904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5400000">
              <a:off x="886141" y="133998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28480" y="1542558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52444" y="1728941"/>
              <a:ext cx="184820" cy="167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-1687261">
              <a:off x="435121" y="1019909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9107212">
              <a:off x="765528" y="1008917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-1687261">
              <a:off x="787913" y="1673633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9107212">
              <a:off x="443774" y="1656909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-5400000">
              <a:off x="625069" y="1894487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662483" y="2097060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231138" y="1822730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024" y="1744955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990698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-9107212">
              <a:off x="1051971" y="167319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-9107212">
              <a:off x="138172" y="1032762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-1687261">
              <a:off x="165529" y="1650640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-1687261">
              <a:off x="460978" y="1049556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-5400000">
              <a:off x="924943" y="1341306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-9107212">
              <a:off x="460936" y="1624632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-5400000">
              <a:off x="598008" y="766309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643667" y="601899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334043" y="396004"/>
              <a:ext cx="128904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-9107212">
              <a:off x="446817" y="50130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-9107212">
              <a:off x="463979" y="469027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-1687261">
              <a:off x="765570" y="485891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950823" y="391020"/>
              <a:ext cx="128904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-5400000">
              <a:off x="911742" y="193431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950823" y="19050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-1687261">
              <a:off x="1038700" y="100382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248924" y="968882"/>
              <a:ext cx="128904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-9107212">
              <a:off x="1403326" y="987100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578964" y="1135330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-5400000">
              <a:off x="1529084" y="1316602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571423" y="1519176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-5400000">
              <a:off x="1567886" y="131792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-1687261">
              <a:off x="1694844" y="989574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1904455" y="959740"/>
              <a:ext cx="184820" cy="165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"/>
                </a:lnSpc>
              </a:pPr>
              <a:r>
                <a:rPr lang="en-US" sz="941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-3984889">
              <a:off x="1920955" y="777297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-8382391">
              <a:off x="1995578" y="1073821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10195666">
              <a:off x="2052864" y="914016"/>
              <a:ext cx="19971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2042109" y="599648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2184343" y="1234257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2278146" y="891776"/>
              <a:ext cx="128904" cy="167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"/>
                </a:lnSpc>
              </a:pPr>
              <a:r>
                <a:rPr lang="en-US" b="true" sz="941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1141126">
              <a:off x="371049" y="258679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-4109639">
              <a:off x="213344" y="324619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-2700000">
              <a:off x="1002308" y="416050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-2700000">
              <a:off x="865604" y="296149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-341331">
              <a:off x="1261804" y="1018011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-341331">
              <a:off x="1231996" y="838635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-9658873">
              <a:off x="1526279" y="1631502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6690360">
              <a:off x="1683985" y="1565562"/>
              <a:ext cx="131421" cy="153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"/>
                </a:lnSpc>
              </a:pPr>
              <a:r>
                <a:rPr lang="en-US" b="true" sz="859" spc="-81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89" id="89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91" id="91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93" id="93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E27">
                <a:alpha val="100000"/>
              </a:srgbClr>
            </a:gs>
            <a:gs pos="100000">
              <a:srgbClr val="48F0E7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253" y="64150"/>
            <a:ext cx="6342869" cy="738200"/>
            <a:chOff x="0" y="0"/>
            <a:chExt cx="2909990" cy="338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990" cy="338673"/>
            </a:xfrm>
            <a:custGeom>
              <a:avLst/>
              <a:gdLst/>
              <a:ahLst/>
              <a:cxnLst/>
              <a:rect r="r" b="b" t="t" l="l"/>
              <a:pathLst>
                <a:path h="338673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38673"/>
                  </a:lnTo>
                  <a:lnTo>
                    <a:pt x="0" y="338673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909990" cy="35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53" y="5001371"/>
            <a:ext cx="6342869" cy="849504"/>
            <a:chOff x="0" y="0"/>
            <a:chExt cx="2909990" cy="3897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9990" cy="389737"/>
            </a:xfrm>
            <a:custGeom>
              <a:avLst/>
              <a:gdLst/>
              <a:ahLst/>
              <a:cxnLst/>
              <a:rect r="r" b="b" t="t" l="l"/>
              <a:pathLst>
                <a:path h="389737" w="2909990">
                  <a:moveTo>
                    <a:pt x="0" y="0"/>
                  </a:moveTo>
                  <a:lnTo>
                    <a:pt x="2909990" y="0"/>
                  </a:lnTo>
                  <a:lnTo>
                    <a:pt x="2909990" y="389737"/>
                  </a:lnTo>
                  <a:lnTo>
                    <a:pt x="0" y="389737"/>
                  </a:lnTo>
                  <a:close/>
                </a:path>
              </a:pathLst>
            </a:custGeom>
            <a:solidFill>
              <a:srgbClr val="E3EBF2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909990" cy="40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3" y="849975"/>
            <a:ext cx="3146387" cy="2023310"/>
            <a:chOff x="0" y="0"/>
            <a:chExt cx="1443504" cy="928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9735" y="849975"/>
            <a:ext cx="3146387" cy="2023310"/>
            <a:chOff x="0" y="0"/>
            <a:chExt cx="1443504" cy="928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253" y="2920911"/>
            <a:ext cx="3146387" cy="2023310"/>
            <a:chOff x="0" y="0"/>
            <a:chExt cx="1443504" cy="928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39735" y="2920911"/>
            <a:ext cx="3146387" cy="2023310"/>
            <a:chOff x="0" y="0"/>
            <a:chExt cx="1443504" cy="9282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3504" cy="928257"/>
            </a:xfrm>
            <a:custGeom>
              <a:avLst/>
              <a:gdLst/>
              <a:ahLst/>
              <a:cxnLst/>
              <a:rect r="r" b="b" t="t" l="l"/>
              <a:pathLst>
                <a:path h="928257" w="1443504">
                  <a:moveTo>
                    <a:pt x="0" y="0"/>
                  </a:moveTo>
                  <a:lnTo>
                    <a:pt x="1443504" y="0"/>
                  </a:lnTo>
                  <a:lnTo>
                    <a:pt x="1443504" y="928257"/>
                  </a:lnTo>
                  <a:lnTo>
                    <a:pt x="0" y="928257"/>
                  </a:lnTo>
                  <a:close/>
                </a:path>
              </a:pathLst>
            </a:custGeom>
            <a:solidFill>
              <a:srgbClr val="F4F6FC"/>
            </a:solidFill>
            <a:ln w="14288" cap="sq">
              <a:solidFill>
                <a:srgbClr val="204D7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43504" cy="94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690377" y="2997111"/>
            <a:ext cx="2148448" cy="2048621"/>
          </a:xfrm>
          <a:custGeom>
            <a:avLst/>
            <a:gdLst/>
            <a:ahLst/>
            <a:cxnLst/>
            <a:rect r="r" b="b" t="t" l="l"/>
            <a:pathLst>
              <a:path h="2048621" w="2148448">
                <a:moveTo>
                  <a:pt x="0" y="0"/>
                </a:moveTo>
                <a:lnTo>
                  <a:pt x="2148448" y="0"/>
                </a:lnTo>
                <a:lnTo>
                  <a:pt x="2148448" y="2048620"/>
                </a:lnTo>
                <a:lnTo>
                  <a:pt x="0" y="2048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8514" y="942961"/>
            <a:ext cx="1827113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1. Molecular 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8900" y="942961"/>
            <a:ext cx="1575495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2. Lewis Structure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514" y="3016161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3. Condensed Structural Formula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34997" y="3006636"/>
            <a:ext cx="1998141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4. Bond-Line Formula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7812" y="5196760"/>
            <a:ext cx="2393752" cy="2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sz="1700" b="true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 STRIP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5301" y="169979"/>
            <a:ext cx="3038773" cy="5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CARD 10 - CAFFEINE </a:t>
            </a:r>
          </a:p>
          <a:p>
            <a:pPr algn="ctr">
              <a:lnSpc>
                <a:spcPts val="2244"/>
              </a:lnSpc>
            </a:pPr>
            <a:r>
              <a:rPr lang="en-US" b="true" sz="2200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C₈H₁₀N₄O₂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907" y="1600527"/>
            <a:ext cx="2987080" cy="5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0"/>
              </a:lnSpc>
            </a:pPr>
            <a:r>
              <a:rPr lang="en-US" b="true" sz="44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C₈H₁₀N₄O₂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7292" y="3676815"/>
            <a:ext cx="9525" cy="5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43253" y="3701465"/>
            <a:ext cx="3109986" cy="60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b="true" sz="2302">
                <a:solidFill>
                  <a:srgbClr val="204D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CN1C=NC2=C1C(=O)N(C(=O)N2C)C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425861" y="3311436"/>
            <a:ext cx="2955864" cy="19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400">
                <a:solidFill>
                  <a:srgbClr val="204D77"/>
                </a:solidFill>
                <a:latin typeface="Montserrat"/>
                <a:ea typeface="Montserrat"/>
                <a:cs typeface="Montserrat"/>
                <a:sym typeface="Montserrat"/>
              </a:rPr>
              <a:t>SMILES Notation</a:t>
            </a:r>
          </a:p>
        </p:txBody>
      </p:sp>
      <p:grpSp>
        <p:nvGrpSpPr>
          <p:cNvPr name="Group 31" id="31"/>
          <p:cNvGrpSpPr/>
          <p:nvPr/>
        </p:nvGrpSpPr>
        <p:grpSpPr>
          <a:xfrm rot="-2458967">
            <a:off x="4222720" y="1074886"/>
            <a:ext cx="1938548" cy="2099739"/>
            <a:chOff x="0" y="0"/>
            <a:chExt cx="2584730" cy="2799652"/>
          </a:xfrm>
        </p:grpSpPr>
        <p:sp>
          <p:nvSpPr>
            <p:cNvPr name="TextBox 32" id="32"/>
            <p:cNvSpPr txBox="true"/>
            <p:nvPr/>
          </p:nvSpPr>
          <p:spPr>
            <a:xfrm rot="2458967">
              <a:off x="1528402" y="718821"/>
              <a:ext cx="184182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777F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2458967">
              <a:off x="1149943" y="681103"/>
              <a:ext cx="201665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2458967">
              <a:off x="1627462" y="1095952"/>
              <a:ext cx="201665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-2941032">
              <a:off x="975517" y="810615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2458967">
              <a:off x="878191" y="977443"/>
              <a:ext cx="140653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sz="1027" b="true">
                  <a:solidFill>
                    <a:srgbClr val="777F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-2941032">
              <a:off x="1452636" y="1225117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2458967">
              <a:off x="1359960" y="1396383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2458967">
              <a:off x="991519" y="1372303"/>
              <a:ext cx="201665" cy="19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771706">
              <a:off x="1315679" y="636918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6648244">
              <a:off x="1589188" y="87179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771706">
              <a:off x="1138469" y="1427858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-6648244">
              <a:off x="860447" y="117530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-2941032">
              <a:off x="825132" y="1481447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2458967">
              <a:off x="427064" y="1399959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-7781471">
              <a:off x="1470470" y="1576174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-6648244">
              <a:off x="1055363" y="442494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771706">
              <a:off x="642258" y="963536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-2941032">
              <a:off x="1483652" y="125397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-2941032">
              <a:off x="1625824" y="546384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2458967">
              <a:off x="1791828" y="438046"/>
              <a:ext cx="201665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1290431">
              <a:off x="1822565" y="1120515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2458967">
              <a:off x="2064803" y="1666834"/>
              <a:ext cx="201665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2458967">
              <a:off x="2194935" y="1766005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2458967">
              <a:off x="1569742" y="2227899"/>
              <a:ext cx="201665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302128">
              <a:off x="1762857" y="2242371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-2579761">
              <a:off x="1406081" y="2358704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-6922434">
              <a:off x="1614257" y="2412068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2458967">
              <a:off x="2391503" y="1903213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2359060">
              <a:off x="2136586" y="1113894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2458967">
              <a:off x="444535" y="977127"/>
              <a:ext cx="201665" cy="19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0081C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5477042">
              <a:off x="418604" y="1160709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2188919">
              <a:off x="264035" y="799391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-1337063">
              <a:off x="220661" y="1019070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2458967">
              <a:off x="46329" y="1093885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2458967">
              <a:off x="122727" y="675289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-2941032">
              <a:off x="858407" y="1510150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2458967">
              <a:off x="758712" y="1645914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-6512801">
              <a:off x="641064" y="1697068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9836433">
              <a:off x="804070" y="1790161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-6648244">
              <a:off x="1084482" y="433325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2458967">
              <a:off x="1018545" y="248058"/>
              <a:ext cx="140653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7DB1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3600093">
              <a:off x="1148236" y="172478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-1650671">
              <a:off x="969993" y="113602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-6103452">
              <a:off x="1699928" y="216385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-9288286">
              <a:off x="1926570" y="51845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8624749">
              <a:off x="1936436" y="28005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2458967">
              <a:off x="2029850" y="1233673"/>
              <a:ext cx="184182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777F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2458967">
              <a:off x="1643469" y="1786838"/>
              <a:ext cx="184182" cy="19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8"/>
                </a:lnSpc>
              </a:pPr>
              <a:r>
                <a:rPr lang="en-US" sz="1027" b="true">
                  <a:solidFill>
                    <a:srgbClr val="777F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2458967">
              <a:off x="2153340" y="613157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2458967">
              <a:off x="2114999" y="145949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2458967">
              <a:off x="1661774" y="29558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-5400000">
              <a:off x="2031218" y="1424210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-5400000">
              <a:off x="2073556" y="1425652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-695965">
              <a:off x="1837851" y="170794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5477042">
              <a:off x="1610516" y="1990013"/>
              <a:ext cx="217917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—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2458967">
              <a:off x="2022355" y="2282494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2458967">
              <a:off x="1760906" y="2583440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2458967">
              <a:off x="1306416" y="2508293"/>
              <a:ext cx="140653" cy="193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"/>
                </a:lnSpc>
              </a:pPr>
              <a:r>
                <a:rPr lang="en-US" b="true" sz="1027">
                  <a:solidFill>
                    <a:srgbClr val="4C74B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-509807">
              <a:off x="1516970" y="534949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2359060">
              <a:off x="831578" y="1034916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7858967">
              <a:off x="1760014" y="1875254"/>
              <a:ext cx="143399" cy="169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6"/>
                </a:lnSpc>
              </a:pPr>
              <a:r>
                <a:rPr lang="en-US" b="true" sz="937" spc="-89">
                  <a:solidFill>
                    <a:srgbClr val="204D7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9379" y="5492798"/>
            <a:ext cx="6433135" cy="157330"/>
            <a:chOff x="0" y="0"/>
            <a:chExt cx="8577514" cy="20977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 rot="0">
              <a:off x="54749" y="37792"/>
              <a:ext cx="1804732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atom count verified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2138716" y="37792"/>
              <a:ext cx="1522716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valence checked</a:t>
              </a:r>
            </a:p>
          </p:txBody>
        </p:sp>
        <p:sp>
          <p:nvSpPr>
            <p:cNvPr name="Freeform 97" id="97"/>
            <p:cNvSpPr/>
            <p:nvPr/>
          </p:nvSpPr>
          <p:spPr>
            <a:xfrm flipH="false" flipV="false" rot="0">
              <a:off x="2028309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 rot="0">
              <a:off x="3882330" y="37792"/>
              <a:ext cx="1850357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bond order checked</a:t>
              </a:r>
            </a:p>
          </p:txBody>
        </p:sp>
        <p:sp>
          <p:nvSpPr>
            <p:cNvPr name="Freeform 99" id="99"/>
            <p:cNvSpPr/>
            <p:nvPr/>
          </p:nvSpPr>
          <p:spPr>
            <a:xfrm flipH="false" flipV="false" rot="0">
              <a:off x="3825680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4" y="0"/>
                  </a:lnTo>
                  <a:lnTo>
                    <a:pt x="220814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 rot="0">
              <a:off x="5896935" y="37792"/>
              <a:ext cx="2680579" cy="15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7"/>
                </a:lnSpc>
              </a:pPr>
              <a:r>
                <a:rPr lang="en-US" sz="850">
                  <a:solidFill>
                    <a:srgbClr val="204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connectivity confirmed</a:t>
              </a:r>
            </a:p>
          </p:txBody>
        </p:sp>
        <p:sp>
          <p:nvSpPr>
            <p:cNvPr name="Freeform 101" id="101"/>
            <p:cNvSpPr/>
            <p:nvPr/>
          </p:nvSpPr>
          <p:spPr>
            <a:xfrm flipH="false" flipV="false" rot="0">
              <a:off x="5896935" y="0"/>
              <a:ext cx="220814" cy="209773"/>
            </a:xfrm>
            <a:custGeom>
              <a:avLst/>
              <a:gdLst/>
              <a:ahLst/>
              <a:cxnLst/>
              <a:rect r="r" b="b" t="t" l="l"/>
              <a:pathLst>
                <a:path h="209773" w="220814">
                  <a:moveTo>
                    <a:pt x="0" y="0"/>
                  </a:moveTo>
                  <a:lnTo>
                    <a:pt x="220813" y="0"/>
                  </a:lnTo>
                  <a:lnTo>
                    <a:pt x="220813" y="209773"/>
                  </a:lnTo>
                  <a:lnTo>
                    <a:pt x="0" y="20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138514" y="4523596"/>
            <a:ext cx="2955864" cy="35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"/>
              </a:lnSpc>
            </a:pPr>
            <a:r>
              <a:rPr lang="en-US" sz="900" i="true" b="true">
                <a:solidFill>
                  <a:srgbClr val="204D7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Note: </a:t>
            </a:r>
            <a:r>
              <a:rPr lang="en-US" sz="900" i="true">
                <a:solidFill>
                  <a:srgbClr val="204D77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Caffeine does not have a conventional condensed structural formula because it is a complex, bicylci heterocyclic organic compound.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DAHXrQYBnh8</dc:identifier>
  <dcterms:modified xsi:type="dcterms:W3CDTF">2011-08-01T06:04:30Z</dcterms:modified>
  <cp:revision>1</cp:revision>
  <dc:title>CHEM13_AsynchronousActivity_02</dc:title>
</cp:coreProperties>
</file>